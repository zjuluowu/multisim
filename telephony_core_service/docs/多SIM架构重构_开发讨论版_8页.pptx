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a95ce87cf74f88" /><Relationship Type="http://schemas.openxmlformats.org/officeDocument/2006/relationships/extended-properties" Target="/docProps/app.xml" Id="R33cda8e02a7d45f6" /><Relationship Type="http://schemas.openxmlformats.org/officeDocument/2006/relationships/officeDocument" Target="/ppt/presentation.xml" Id="Rba4f93b3affb4a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4a7bea196f4742"/>
  </p:sldMasterIdLst>
  <p:notesMasterIdLst>
    <p:notesMasterId xmlns:r="http://schemas.openxmlformats.org/officeDocument/2006/relationships" r:id="Rbfe0c9141cb045ab"/>
  </p:notesMasterIdLst>
  <p:sldIdLst>
    <p:sldId xmlns:r="http://schemas.openxmlformats.org/officeDocument/2006/relationships" id="256" r:id="R784e51af15244d7c"/>
    <p:sldId xmlns:r="http://schemas.openxmlformats.org/officeDocument/2006/relationships" id="257" r:id="Re28835b19eb94c87"/>
    <p:sldId xmlns:r="http://schemas.openxmlformats.org/officeDocument/2006/relationships" id="258" r:id="Ra016e154fbc44bd2"/>
    <p:sldId xmlns:r="http://schemas.openxmlformats.org/officeDocument/2006/relationships" id="259" r:id="R87aa59c1c1ab4bf3"/>
    <p:sldId xmlns:r="http://schemas.openxmlformats.org/officeDocument/2006/relationships" id="260" r:id="R77745070762a4bf2"/>
    <p:sldId xmlns:r="http://schemas.openxmlformats.org/officeDocument/2006/relationships" id="261" r:id="R0ea5461fc441421f"/>
    <p:sldId xmlns:r="http://schemas.openxmlformats.org/officeDocument/2006/relationships" id="262" r:id="R8613e2ec18a84dcc"/>
    <p:sldId xmlns:r="http://schemas.openxmlformats.org/officeDocument/2006/relationships" id="263" r:id="R16904f3f85734f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f9eeaea4614cfc" /><Relationship Type="http://schemas.openxmlformats.org/officeDocument/2006/relationships/slideMaster" Target="/ppt/slideMasters/slideMaster1.xml" Id="R834a7bea196f4742" /><Relationship Type="http://schemas.openxmlformats.org/officeDocument/2006/relationships/notesMaster" Target="/ppt/notesMasters/notesMaster1.xml" Id="Rbfe0c9141cb045ab" /><Relationship Type="http://schemas.openxmlformats.org/officeDocument/2006/relationships/presProps" Target="/ppt/presProps.xml" Id="Rc08cb30a50fd43c1" /><Relationship Type="http://schemas.openxmlformats.org/officeDocument/2006/relationships/tableStyles" Target="/ppt/tableStyles.xml" Id="Rbfeb1e291e76439e" /><Relationship Type="http://schemas.openxmlformats.org/officeDocument/2006/relationships/slide" Target="/ppt/slides/slide1.xml" Id="R784e51af15244d7c" /><Relationship Type="http://schemas.openxmlformats.org/officeDocument/2006/relationships/slide" Target="/ppt/slides/slide2.xml" Id="Re28835b19eb94c87" /><Relationship Type="http://schemas.openxmlformats.org/officeDocument/2006/relationships/slide" Target="/ppt/slides/slide3.xml" Id="Ra016e154fbc44bd2" /><Relationship Type="http://schemas.openxmlformats.org/officeDocument/2006/relationships/slide" Target="/ppt/slides/slide4.xml" Id="R87aa59c1c1ab4bf3" /><Relationship Type="http://schemas.openxmlformats.org/officeDocument/2006/relationships/slide" Target="/ppt/slides/slide5.xml" Id="R77745070762a4bf2" /><Relationship Type="http://schemas.openxmlformats.org/officeDocument/2006/relationships/slide" Target="/ppt/slides/slide6.xml" Id="R0ea5461fc441421f" /><Relationship Type="http://schemas.openxmlformats.org/officeDocument/2006/relationships/slide" Target="/ppt/slides/slide7.xml" Id="R8613e2ec18a84dcc" /><Relationship Type="http://schemas.openxmlformats.org/officeDocument/2006/relationships/slide" Target="/ppt/slides/slide8.xml" Id="R16904f3f85734f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15b32b00c045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5d3fdb78d14b69" /><Relationship Type="http://schemas.openxmlformats.org/officeDocument/2006/relationships/notesMaster" Target="/ppt/notesMasters/notesMaster1.xml" Id="R22d88d37a8df41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e60424f4094b68" /><Relationship Type="http://schemas.openxmlformats.org/officeDocument/2006/relationships/notesMaster" Target="/ppt/notesMasters/notesMaster1.xml" Id="R60f17c15d2d54a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52154afebc47be" /><Relationship Type="http://schemas.openxmlformats.org/officeDocument/2006/relationships/notesMaster" Target="/ppt/notesMasters/notesMaster1.xml" Id="Rb4419f22efb843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ad6a8b98b24ed4" /><Relationship Type="http://schemas.openxmlformats.org/officeDocument/2006/relationships/notesMaster" Target="/ppt/notesMasters/notesMaster1.xml" Id="R8aec0abe5d8742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41b433d2f44f06" /><Relationship Type="http://schemas.openxmlformats.org/officeDocument/2006/relationships/notesMaster" Target="/ppt/notesMasters/notesMaster1.xml" Id="Rb06dbc113afb49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87dcff87774053" /><Relationship Type="http://schemas.openxmlformats.org/officeDocument/2006/relationships/notesMaster" Target="/ppt/notesMasters/notesMaster1.xml" Id="Rebeb9706674846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0975abfa7b4692" /><Relationship Type="http://schemas.openxmlformats.org/officeDocument/2006/relationships/notesMaster" Target="/ppt/notesMasters/notesMaster1.xml" Id="R1c733210ebe24e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535b71d3854a74" /><Relationship Type="http://schemas.openxmlformats.org/officeDocument/2006/relationships/notesMaster" Target="/ppt/notesMasters/notesMaster1.xml" Id="R43e958bf7f8e43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 · 演讲词与演讲备注</a:t>
            </a:r>
          </a:p>
          <a:p xmlns:a="http://schemas.openxmlformats.org/drawingml/2006/main">
            <a:r>
              <a:t>建议讲解时间：约 3 分钟。演讲备注用于备讲和问答，可按现场需要展开。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【本页要讲清楚】</a:t>
            </a:r>
          </a:p>
          <a:p xmlns:a="http://schemas.openxmlformats.org/drawingml/2006/main">
            <a:r>
              <a:t>理解重构要解决的业务变化，以及判断设计是否有效的标准。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【演讲词｜可直接讲述】</a:t>
            </a:r>
          </a:p>
          <a:p xmlns:a="http://schemas.openxmlformats.org/drawingml/2006/main">
            <a:r>
              <a:t>今天我们讨论多 SIM 重构，希望先形成一个共同判断：以后增加订阅、增加运行端口，或者处理换卡和设备重启时，每一条业务规则应当由谁负责，变化应当落到哪些代码里。大家熟悉业务，这次最需要大家帮助确认的是规则有没有遗漏，以及当前代码已经做了哪些保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左边第一类变化。增加一个端口，往往同时涉及“这是哪个订阅”“现在连接到哪里”“是否符合默认数据或语音角色的条件”“设备能否提供资源”。这些问题之间有联系，但变化原因并不完全相同。如果每个调用入口都根据 slot 自己推断一遍，新增能力时就需要逐个寻找和修改这些判断。设计希望把规则放到明确的维护位置，让其他模块通过接口使用它。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再看第二类变化。同一个位置上，刚才可能是卡 A，现在已经是卡 B。位置没有改变，旧请求还可能在返回途中。即使没有换卡，同一张卡也可能启动新一轮文件加载。我们需要在代码中明确表达：这个响应属于谁，属于哪一次运行，以及它现在还有没有资格改变系统状态。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边是我们希望得到的结果。业务规则有明确归属后，新增设备能力主要修改相应的能力适配和映射逻辑，其他职责尽量复用已有规则。处理状态变化时，也能解释清楚为什么接收一个结果、为什么拒绝另一个结果，以及设备执行情况不确定时由谁继续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这里还要区分三个业务量：系统管理了多少订阅，设备启用了哪些凭据，以及当前能够同时提供多少通信能力。管理更多订阅，并不自动增加 Modem 的并发能力。重构需要把这些约束表达清楚，实际能力仍以产品和设备条件为准。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这次改造的共同约束是保持现有能力和外部接口承诺，范围集中在 Core 内的 SIM 与 eSIM 运行管理，沿用现有进程、SA 和外围协作关系。评价方案时，我们就问两个问题：业务变化是否有明确的修改归属，原有业务行为是否有可执行的验证依据。下面用一个大家容易判断的换卡场景，把这些问题具体展开。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【演讲备注｜原理解释与现场提示】</a:t>
            </a:r>
          </a:p>
          <a:p xmlns:a="http://schemas.openxmlformats.org/drawingml/2006/main">
            <a:r>
              <a:t>1. 讲解顺序：指左上“增加订阅或运行端口”，让开发先联想到近期新增能力的改动，再指左下“换卡、刷新与设备重启”，最后落到右侧目标。</a:t>
            </a:r>
          </a:p>
          <a:p xmlns:a="http://schemas.openxmlformats.org/drawingml/2006/main">
            <a:r>
              <a:t>2. 术语解释：订阅表示业务上管理的通信身份及相关选择。端口表示设备模型中的运行或连接位置。默认角色表示用户或系统选择的默认数据、语音等用途，具体角色和资格规则以产品定义为准。</a:t>
            </a:r>
          </a:p>
          <a:p xmlns:a="http://schemas.openxmlformats.org/drawingml/2006/main">
            <a:r>
              <a:t>3. 原理补充：变化隔离的意思是把经常一起变化的知识集中维护，把变化原因不同的知识通过明确接口连接。检验方法是追踪新增能力时哪些判断需要修改，而不是统计拆出了多少个类。</a:t>
            </a:r>
          </a:p>
          <a:p xmlns:a="http://schemas.openxmlformats.org/drawingml/2006/main">
            <a:r>
              <a:t>4. 现场问题：最近一次增加卡形态或端口时，哪条规则在多个模块重复修改？请开发给出一个真实例子，用它校准后续职责划分。</a:t>
            </a:r>
          </a:p>
          <a:p xmlns:a="http://schemas.openxmlformats.org/drawingml/2006/main">
            <a:r>
              <a:t>5. 讲解边界：本页描述目标与设计动机，不承诺固定卡数、并发能力或具体工作量收益。既有 eSIM 服务的主流程职责仍需按真实调用链确认。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【原设计依据与适用范围】</a:t>
            </a:r>
          </a:p>
          <a:p xmlns:a="http://schemas.openxmlformats.org/drawingml/2006/main">
            <a:r>
              <a:t>多SIM架构重构_问题分析与软件设计_V24.pptx，P4–8、P13、P19、P26–28、P44。目标规则与示意流程仍须结合目标代码、产品能力和既有契约验证。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 · 演讲词与演讲备注</a:t>
            </a:r>
          </a:p>
          <a:p xmlns:a="http://schemas.openxmlformats.org/drawingml/2006/main">
            <a:r>
              <a:t>建议讲解时间：约 3～4 分钟。演讲备注用于备讲和问答，可按现场需要展开。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【本页要讲清楚】</a:t>
            </a:r>
          </a:p>
          <a:p xmlns:a="http://schemas.openxmlformats.org/drawingml/2006/main">
            <a:r>
              <a:t>区分原请求关联、当前运行会话和本次加载轮次，理解旧响应为什么不能写入新对象。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【演讲词｜可直接讲述】</a:t>
            </a:r>
          </a:p>
          <a:p xmlns:a="http://schemas.openxmlformats.org/drawingml/2006/main">
            <a:r>
              <a:t>请从左到右看这个时间顺序。T0 时，卡 A 在 slot 0 开始加载文件。为了说明问题，我们给这段运行过程起名“会话 A”，把当前文件读取过程叫作“第 7 轮加载”。A 发出请求 a1，随后等待设备返回。这里的名字和数字只是示意。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到了 T1，用户在同一个位置换成卡 B。系统已经开始维护 B 的运行状态，B 也可能发出了自己的文件请求。不过，A 之前发出去的请求未必已经消失，它的响应仍可能在设备或消息队列中传递。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到了 T2，A 的响应终于返回。已有 serial 关联可能让我们准确找到原来的请求 a1，这一步是有价值的，应当保留。接下来还需要回答一个不同的问题：a1 的结果是否仍然属于当前允许更新的运行对象？如果代码只根据 slot 0 找当前对象，就有可能找到 B。于是，“找到了原请求”和“可以写当前缓存”之间出现了一个需要明确保护的边界。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理解这条边界，我们把三个概念分开。请求关联回答“这是谁发起的哪次请求”。运行会话回答“请求属于哪个运行实例，那个实例现在是否仍有效”。加载轮次回答“它属于这个实例的哪一轮文件加载”。同一会话里可以发生多轮加载，所以只检查会话还不足以排除上一轮文件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对应到本例，a1 始终属于会话 A 的第 7 轮。当前已经是会话 B，所以 a1 不能获得 B 的写入资格。对于同一卡的文件重载，卡的运行身份可以保持，但新一轮加载也不能混入上一轮结果。这里最重要的是在发起请求时记下原始关联，收包时不能用当前会话替换它。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再看下方的三个业务结果。第一，A 的数据不能写到 B 的缓存。第二，A 的返回不能减少 B 的待完成项，不能让 B 提前宣告加载完成。第三，B 的状态和通知只能根据属于 B 的有效数据以及原有业务条件来决定。这三点就是这个场景下必须一直成立的业务约束。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大家结合真实代码指出：目前哪里登记请求，哪里使旧会话失效，哪里在写缓存之前检查关联。我们先确认现有机制覆盖了哪些交错，再决定需要补哪个入口。这个例子用于推演和验证，是否存在实际缺口，要由代码路径和可复现的事件顺序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【演讲备注｜原理解释与现场提示】</a:t>
            </a:r>
          </a:p>
          <a:p xmlns:a="http://schemas.openxmlformats.org/drawingml/2006/main">
            <a:r>
              <a:t>1. 指图与停顿：讲完 T2 后先停一下，问“响应能找到 a1，是否已经足以写 slot 0 的当前缓存？”再解释三个作用域。</a:t>
            </a:r>
          </a:p>
          <a:p xmlns:a="http://schemas.openxmlformats.org/drawingml/2006/main">
            <a:r>
              <a:t>2. 原理补充：运行会话可以理解为某个端点上连续有效的一段运行实例。会话标记用于区分先后出现的实例。加载轮次用于区分同一会话内先后发生的文件加载。具体标记类型、存储方式和递增范围留到代码设计时确定。</a:t>
            </a:r>
          </a:p>
          <a:p xmlns:a="http://schemas.openxmlformats.org/drawingml/2006/main">
            <a:r>
              <a:t>3. 容易误解的地方：slotId 的含义取决于具体接口，本例仅表示两个时刻旧入口都使用 slot 0，不能据此把所有 slotId 都解释为永久物理卡槽。serial 也应在原协议规定的作用域内解释，不能假定全系统唯一。</a:t>
            </a:r>
          </a:p>
          <a:p xmlns:a="http://schemas.openxmlformats.org/drawingml/2006/main">
            <a:r>
              <a:t>4. 问题回应：“当前已经有 serial，是否重复设计？”可以先核查 serial 是否连同原会话、原加载轮次一起保留下来，以及检查和写入是否处于同一保护范围。若已有等效保护，就复用并明确它的责任。</a:t>
            </a:r>
          </a:p>
          <a:p xmlns:a="http://schemas.openxmlformats.org/drawingml/2006/main">
            <a:r>
              <a:t>5. 讲解边界：本页讨论文件读取响应。控制命令的迟到结果还可能反映真实设备变化，第 6 页会解释为什么不能一律丢弃。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【原设计依据与适用范围】</a:t>
            </a:r>
          </a:p>
          <a:p xmlns:a="http://schemas.openxmlformats.org/drawingml/2006/main">
            <a:r>
              <a:t>多SIM架构重构_问题分析与软件设计_V24.pptx，P9、P12、P43、P76–80。目标规则与示意流程仍须结合目标代码、产品能力和既有契约验证。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 · 演讲词与演讲备注</a:t>
            </a:r>
          </a:p>
          <a:p xmlns:a="http://schemas.openxmlformats.org/drawingml/2006/main">
            <a:r>
              <a:t>建议讲解时间：约 3 分钟。演讲备注用于备讲和问答，可按现场需要展开。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【本页要讲清楚】</a:t>
            </a:r>
          </a:p>
          <a:p xmlns:a="http://schemas.openxmlformats.org/drawingml/2006/main">
            <a:r>
              <a:t>把业务风险定位到现有实现中的责任边界，说明改动传播的原因。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【演讲词｜可直接讲述】</a:t>
            </a:r>
          </a:p>
          <a:p xmlns:a="http://schemas.openxmlformats.org/drawingml/2006/main">
            <a:r>
              <a:t>上一页说明了我们希望保护的业务结果。这一页把问题落回现有代码，按表格从左到右看：左边是当前可以寻找的实现线索，中间是需要开发核对的问题，右边是由这些问题引出的设计要求。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第一行是 slot 级对象、缓存和账户索引。使用数组或 vector 管理对象本身很常见，我们要核查的是这些对象是否都把同一个 slot 理解成同一个生命周期。当位置复用时，卡对象、文件缓存和账户信息可能分别在不同入口创建、清理或重建。如果没有明确的失效规则，就很难判断多个对象是否仍然属于同一个运行实例。因此，身份、当前位置和会话有效性需要分别表达，并有明确的维护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第二行是回调与文件加载。这里已经存在 serial、加载计数和缓存等机制。需要沿着真实调用链继续追问：响应匹配到原请求之后，代码用什么定位目标缓存？会不会转而访问当前 slot 对象？会话与轮次检查发生在写入之前，还是写入以后？同一个返回重复到达时，会不会重复减少待完成数？这些问题决定了结果准入、更新与去重应该放在哪里。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第三行是状态、账户与通知。卡应用报告 READY、文件读取完成、账户具备某项资格，以及网络业务实际可用，各自依赖的条件可能不同。如果多个入口都自行解释同一个枚举，就容易把不同含义混在一起。目标设计会让各类事实有自己的维护者，再依据既有契约生成外部状态，保留调用方已经依赖的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这些问题也能解释多卡扩展为什么会产生联动修改。举例说，新增 Port 后，如果每个账户、角色和资源调用方都需要自己重新推导 slot 与订阅的关系，那么同一映射知识就散在很多地方。一旦把映射事实集中维护，并通过接口公开，调用方可以主要关注自己负责的资格、选择或资源规则。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，请大家按这三行把真实入口标出来：谁创建和结束运行实例，谁接受文件结果，谁产生对外状态。我们会保留现有有效保护，补齐缺少的责任与接口。下一页给出五条设计规则，用来约束这些改动，而不是只凭类名或目录决定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【演讲备注｜原理解释与现场提示】</a:t>
            </a:r>
          </a:p>
          <a:p xmlns:a="http://schemas.openxmlformats.org/drawingml/2006/main">
            <a:r>
              <a:t>1. 讲解方法：每行先说现象，再问代码位置，最后解释设计要求。若开发指出已有过滤，继续追问它覆盖的对象、失效事件和写入范围，记录证据后再判断是否需要改动。</a:t>
            </a:r>
          </a:p>
          <a:p xmlns:a="http://schemas.openxmlformats.org/drawingml/2006/main">
            <a:r>
              <a:t>2. 术语解释：权威事实是某个职责负责接受并维护的业务状态。派生状态是依据这些事实和规则计算的结果。例如文件完成事实可以参与生成旧 LOADED，但两者是否等价必须以旧接口语义为准。</a:t>
            </a:r>
          </a:p>
          <a:p xmlns:a="http://schemas.openxmlformats.org/drawingml/2006/main">
            <a:r>
              <a:t>3. 原理补充：一次业务变更迫使很多互不相邻的入口修改同一判断，说明这项知识的维护位置可能分散。设计要减少这种重复解释，同时保留正常的模块协作。</a:t>
            </a:r>
          </a:p>
          <a:p xmlns:a="http://schemas.openxmlformats.org/drawingml/2006/main">
            <a:r>
              <a:t>4. 现场问题：请找出一个 READY 或 LOADED 的生产者和两个消费者，各自依赖的条件是否完全一致？如果不一致，应把各自真实含义写清楚。</a:t>
            </a:r>
          </a:p>
          <a:p xmlns:a="http://schemas.openxmlformats.org/drawingml/2006/main">
            <a:r>
              <a:t>5. 讲解边界：Manager vectors、slot 缓存和计数器属于核查线索，不单独构成缺陷证据。需要结合目标版本、线程执行顺序以及已有清理和过滤机制判断。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【原设计依据与适用范围】</a:t>
            </a:r>
          </a:p>
          <a:p xmlns:a="http://schemas.openxmlformats.org/drawingml/2006/main">
            <a:r>
              <a:t>多SIM架构重构_问题分析与软件设计_V24.pptx，P8–13、P26、P47–49。目标规则与示意流程仍须结合目标代码、产品能力和既有契约验证。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 · 演讲词与演讲备注</a:t>
            </a:r>
          </a:p>
          <a:p xmlns:a="http://schemas.openxmlformats.org/drawingml/2006/main">
            <a:r>
              <a:t>建议讲解时间：约 4～5 分钟。演讲备注用于备讲和问答，可按现场需要展开。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【本页要讲清楚】</a:t>
            </a:r>
          </a:p>
          <a:p xmlns:a="http://schemas.openxmlformats.org/drawingml/2006/main">
            <a:r>
              <a:t>理解五条设计规则分别保护什么，以及它们如何转成代码约束。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【演讲词｜可直接讲述】</a:t>
            </a:r>
          </a:p>
          <a:p xmlns:a="http://schemas.openxmlformats.org/drawingml/2006/main">
            <a:r>
              <a:t>这五条规则用来回答“为什么这样拆模块”和“写代码时应该守住什么”。每一条都需要能落到数据、接口或检查点上。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条，身份与位置分开。业务上管理的是某个订阅，设备上描述的是它当前连接的端点与端口。位置变化后，哪些业务信息延续、哪些运行信息重建，需要由身份和生命周期策略决定。代码中可以用订阅标识表达业务身份，用 Binding 表达当前连接关系。这样，调用方需要知道“谁”时，就不必借位置猜身份。没有当前连接的受管理订阅，也仍可能需要保留自己的管理信息。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条，状态与有效期分开。一个响应的内容可能报告“卡已就绪”，但它属于已失效会话时，就不能据此更新当前卡。反过来，一个属于当前会话的有效响应，也可能报告失败或未就绪。内容是什么状态、内容现在能否用于当前对象，是两项分别判断的条件。文件加载还需要自己的轮次，旧轮次的成功结果同样不能直接计入新轮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条，每项事实有明确维护者。这里的维护者负责定义更新条件、接受合法输入并保护自己的状态。其他模块可以请求修改或读取公开快照，不直接改它的内部字段。例如，文件加载结果由运行支撑维护，订阅角色规则由订阅职责维护，流程编排只通过接口协调它们。这样修改规则时能够找到明确落点，也能减少不同入口的旁路写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条，完整用例承担恢复责任。主动切换或激活可能涉及多个步骤，某个底层函数成功，只说明它负责的局部步骤完成。主流程需要知道整个用户请求到了哪里，成功条件是否满足，失败后如何继续。尤其是设备命令超时，设备可能已经执行，只是响应没回来。这时要保留“结果待核实”的内部语义，由负责该用例的主流程查询设备事实，再决定继续、补偿还是结束。真正的主编排者需要唯一，既有 eSIM 服务负责主流程时，本地承接约定的子步骤。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五条，旧接口承诺独立保持。内部模型可以更细，但调用方仍应得到原来约定的参数含义、结果、通知和完成条件。兼容适配负责转换，消费者契约测试负责检查。遇到原契约表达不了的新能力，需要单独设计接口演进，不能悄悄改变旧参数的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这五条放在一起，就是先明确业务知识，再确定谁负责维护，最后用接口和测试保护边界。以后每提出一个新模块，我们都要解释：它集中维护哪项知识，哪些调用方因此可以少做重复判断。这个问题答清楚后，再决定需要怎样的类、接口和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【演讲备注｜原理解释与现场提示】</a:t>
            </a:r>
          </a:p>
          <a:p xmlns:a="http://schemas.openxmlformats.org/drawingml/2006/main">
            <a:r>
              <a:t>1. 重点解释：状态描述“是什么”，有效期描述“这份信息适用于哪段运行”。可用一个反例检查理解：A 的成功结果已经过期，B 的失败结果仍可能是当前有效事实。</a:t>
            </a:r>
          </a:p>
          <a:p xmlns:a="http://schemas.openxmlformats.org/drawingml/2006/main">
            <a:r>
              <a:t>2. 术语解释：Binding 是当前连接关系。快照是供外部读取的状态视图，使用时仍需考虑版本和时效。受控提交表示更新经过所属职责规定的校验，不能由任意调用方直接改内部数据。</a:t>
            </a:r>
          </a:p>
          <a:p xmlns:a="http://schemas.openxmlformats.org/drawingml/2006/main">
            <a:r>
              <a:t>3. DDD 对照：统一语言帮助团队准确使用“订阅、端点、会话、轮次”等词。限界上下文明确一组业务知识的含义和维护边界。聚合用于组织必须一起保护的局部状态与规则，是否需要取决于实际一致性要求。无需把每个模块都套成同一种类结构。</a:t>
            </a:r>
          </a:p>
          <a:p xmlns:a="http://schemas.openxmlformats.org/drawingml/2006/main">
            <a:r>
              <a:t>4. 问题回应：“明确维护者会不会产生新的大总控类？”维护责任按事实划分，各职责各管自己的状态，业务操作只维护用例进度并通过接口协作。检查是否存在跨职责直接写字段，比检查类名更有意义。</a:t>
            </a:r>
          </a:p>
          <a:p xmlns:a="http://schemas.openxmlformats.org/drawingml/2006/main">
            <a:r>
              <a:t>5. 讲解边界：订阅身份策略不能直接等同于某个硬件字段永久唯一。结果待核实属于内部建模示例，对外表达仍受旧契约约束。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【原设计依据与适用范围】</a:t>
            </a:r>
          </a:p>
          <a:p xmlns:a="http://schemas.openxmlformats.org/drawingml/2006/main">
            <a:r>
              <a:t>多SIM架构重构_问题分析与软件设计_V24.pptx，P14、P18–19、P21–23、P30–36、P39–40、P64。目标规则与示意流程仍须结合目标代码、产品能力和既有契约验证。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 · 演讲词与演讲备注</a:t>
            </a:r>
          </a:p>
          <a:p xmlns:a="http://schemas.openxmlformats.org/drawingml/2006/main">
            <a:r>
              <a:t>建议讲解时间：约 5～6 分钟。演讲备注用于备讲和问答，可按现场需要展开。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【本页要讲清楚】</a:t>
            </a:r>
          </a:p>
          <a:p xmlns:a="http://schemas.openxmlformats.org/drawingml/2006/main">
            <a:r>
              <a:t>看懂目标职责图，分清功能模块、实现分层和 SO 部署边界。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【演讲词｜可直接讲述】</a:t>
            </a:r>
          </a:p>
          <a:p xmlns:a="http://schemas.openxmlformats.org/drawingml/2006/main">
            <a:r>
              <a:t>这张图先按“每项事实由谁维护”来读。最上面的旧入口与兼容适配，负责接住现有调用方，把原来的参数和权限语义带进内部，再把内部结果按原约定转换出去。它保护外部使用方式，具体业务规则仍交给相应职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左上是订阅与角色。它维护业务身份、来源，以及用户偏好和当前有效选择。比如用户希望某个订阅承担默认数据角色，和这个订阅在当前条件下能否实际承担该角色，需要分别表达。它可以依赖其他职责提供的资格和能力事实，但不自己维护端口连接或卡文件缓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右上是连接与映射。它回答当前有哪些端点、订阅连接在哪里，以及逻辑路由是什么。Binding 可以理解为明确记录的当前连接关系。这里维护的是已经核实的连接事实，所以发出一条切换命令，并不直接等于连接已经切换成功。连接变化怎样影响运行会话，需要通过约定的接口或事件传递给运行支撑。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下是业务操作。它负责一个完整用例的进度，例如激活或切换要经过哪些步骤，哪个结果可以证明完成，遇到超时由谁核实，发生失败如何恢复。它维护自己的流程状态，通过公开接口请求其他职责工作，不直接改所有模块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右下是资源管理。它维护设备能力约束、资源预留和分配规则。多个端点在软件上可以分别表示，但它们可能共享同一个 Modem 或其他受限资源，所以不能仅凭“端点不同”就认定能够并行。资源职责需要说明哪些请求能同时推进，哪些需要等待，以及怎样保护已经开展的业务。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下方的 UiccRuntime 是卡运行支撑，维护卡应用、安全状态、Records 文件数据，以及会话和加载轮次。我们前面讲的“旧文件响应能否写入当前数据”，主要应在这个职责内保护。它提供有效运行事实，其他职责按自己的业务规则消费这些事实。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举一个受设备能力支持的切换用例说明协作。业务操作先读取订阅资格、当前映射和资源情况，请求必要的资源预留，再通过技术接口推进设备动作。设备执行结果需要核实，连接与映射职责接受已确认的连接变化，运行支撑按约定建立或更新相应会话。订阅与角色职责再依据已确认事实计算有效选择，最后由兼容边界返回或通知。实际步骤和成功条件要按具体用例确定，这里只说明维护责任如何衔接。若执行中超时，就进入核实和恢复流程，不能仅凭发出了命令就宣布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区分三种架构视角。功能模块回答“谁负责哪项业务知识”，图里的几组职责属于这一视角。实现分层回答“规则、用例协调和技术细节如何组织”，例如应用层推进用例，领域规则处理资格和约束，技术适配层连接 RIL 与存储。SO 边界回答“代码编译到哪个动态库、如何链接和装载”。多个职责可以放在同一个 SIM SO 中，沿用原进程与 SA。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因此，图中的模块并不要求变成多个新服务，也不要求每次查询都经过全部职责。简单查询可以读取约定的公开视图。我们要建立的是清楚的维护边界和必要的调用契约，同时保留 SIM 短信、电话簿、STK、运营商配置等原有支撑能力。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【演讲备注｜原理解释与现场提示】</a:t>
            </a:r>
          </a:p>
          <a:p xmlns:a="http://schemas.openxmlformats.org/drawingml/2006/main">
            <a:r>
              <a:t>1. 指图顺序：从最上面的兼容入口开始，按“订阅与角色、连接与映射、业务操作、资源管理”依次讲四块，最后落到 UiccRuntime。讲切换例子时再沿涉及的职责指图，避免一次讲完所有英文名。</a:t>
            </a:r>
          </a:p>
          <a:p xmlns:a="http://schemas.openxmlformats.org/drawingml/2006/main">
            <a:r>
              <a:t>2. 原设计命名对照：订阅与角色对应 Subscription Management，连接与映射对应 Hardware Topology，业务操作对应 Subscription Operation，资源管理对应 Radio Resource。SO 是动态共享库，SA 是原有服务边界，RIL 是对接无线设备能力的技术接口层。</a:t>
            </a:r>
          </a:p>
          <a:p xmlns:a="http://schemas.openxmlformats.org/drawingml/2006/main">
            <a:r>
              <a:t>3. 分层原理：稳定的业务规则通过抽象接口使用外部能力，具体的 RIL、存储等适配实现这些接口。运行时调用方向与源代码依赖方向需要分别设计。图中箭头仅概括协作，不能据此推导 include 方向或固定流水线。</a:t>
            </a:r>
          </a:p>
          <a:p xmlns:a="http://schemas.openxmlformats.org/drawingml/2006/main">
            <a:r>
              <a:t>4. 一致性提醒：各职责只保护自己的更新边界。跨职责读取的版本可用于发现依据已变化，但版本检查本身不会形成全局事务。资源预留、共享设备域调度、结果核实和失败恢复仍然需要明确设计。</a:t>
            </a:r>
          </a:p>
          <a:p xmlns:a="http://schemas.openxmlformats.org/drawingml/2006/main">
            <a:r>
              <a:t>5. 问题回应：“既然业务操作会调用各模块，它是不是新的上帝类？”看它是否只维护用例步骤，是否把映射、角色、资源和文件规则留在各自职责。如果它直接修改其他模块字段，或者复制这些规则，就偏离了这里的设计。</a:t>
            </a:r>
          </a:p>
          <a:p xmlns:a="http://schemas.openxmlformats.org/drawingml/2006/main">
            <a:r>
              <a:t>6. 讨论问题：新增一个 Port 后，哪些改动应留在能力适配和映射中？哪些资格规则确实需要调整？请开发按真实业务举例，不预先承诺只修改一个模块。</a:t>
            </a:r>
          </a:p>
          <a:p xmlns:a="http://schemas.openxmlformats.org/drawingml/2006/main">
            <a:r>
              <a:t>7. 讲解边界：eSIM 实际主编排者须核对既有服务调用链。由既有 eSIM 服务主导的用例，本地业务操作只承担已约定的子步骤，避免重复编排。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【原设计依据与适用范围】</a:t>
            </a:r>
          </a:p>
          <a:p xmlns:a="http://schemas.openxmlformats.org/drawingml/2006/main">
            <a:r>
              <a:t>多SIM架构重构_问题分析与软件设计_V24.pptx，P20–28、P37–38、P58、P64、P67–71。目标规则与示意流程仍须结合目标代码、产品能力和既有契约验证。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 · 演讲词与演讲备注</a:t>
            </a:r>
          </a:p>
          <a:p xmlns:a="http://schemas.openxmlformats.org/drawingml/2006/main">
            <a:r>
              <a:t>建议讲解时间：约 4～5 分钟。演讲备注用于备讲和问答，可按现场需要展开。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【本页要讲清楚】</a:t>
            </a:r>
          </a:p>
          <a:p xmlns:a="http://schemas.openxmlformats.org/drawingml/2006/main">
            <a:r>
              <a:t>解释写入前统一准入如何实施，以及为什么校验和更新必须处于同一保护范围。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【演讲词｜可直接讲述】</a:t>
            </a:r>
          </a:p>
          <a:p xmlns:a="http://schemas.openxmlformats.org/drawingml/2006/main">
            <a:r>
              <a:t>现在回到同槽换卡，看看前面的职责划分怎样变成一个可以落地的改造。先看左边，它描述的是需要核查的一条风险路径：响应通过 serial 找到原请求 a1，随后却通过 slot 定位当前对象。此时当前对象可能已经是 B。如果写缓存和推进完成集合之前没有进一步检查，就可能把 A 的结果计入 B。真实代码是否经过这条路径，需要由开发确认。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边给出目标处理方式。第一步，在发起文件请求时，保存它原来属于哪个端点会话、哪一轮加载，以及对应的待完成项。响应到达时，恢复这份原始记录。这样我们检查的是请求发出时的身份，避免给旧请求贴上当前会话的新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，在改变当前数据之前做准入检查。除了原有请求匹配，还要确认原会话仍然是允许接收该结果的会话，原加载轮次仍然有效。如果已经换卡或进入新一轮文件加载，就不能写当前缓存，也不能推进当前轮次的完成集合。旧请求本身需要结束登记、释放关联资源，但这些清理不能影响 B 的当前进度。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步，有效结果也要检查是否已经处理过，以及文件内容是否满足本项加载的要求。比如同一结果重复回来，不能再次减少待完成项。只靠计数归零可能掩盖重复返回或必要数据缺失，因此完成条件应来自明确的必要数据和降级规则。具体采用集合、状态记录还是其他结构，可以结合现有实现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这里还有一个容易漏掉的细节：校验与更新必须处于同一受控执行域。如果回调检查完“当前还是会话 A”之后，另一个线程立刻把会话换成 B，而前一个回调继续写数据，那么检查虽然存在，保护仍然失效。我们需要让失效操作、准入检查和提交按一致的规则排序。可以利用已有事件线程、锁或其他同步机制，具体选择取决于线程模型。关键是不能让会话替换插入校验与提交之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完成提交以后，再按旧契约安排回调与通知。外部需要观察哪些状态、查询何时能看到提交结果，应由兼容规则约束。实现时还要考虑通知重入，避免外部回调在内部状态只更新一半时进入系统。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底部强调失效范围。换卡会结束旧运行会话的写入资格。仅发生文件重载时，可以保持运行会话，只更新加载轮次。对于卡复位、应用替换或更大的设备重置，要根据实际影响判断会话是否也必须重建，不能一律当作文件重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，这一页针对文件结果。对于已经发出的激活或切换命令，即使本地请求过期，硬件仍可能执行成功。旧标记能阻止错误更新，却不能撤销硬件效果。这类迟到结果应由相应操作流程保留为核实线索，必要时重新查询设备状态，再决定如何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【演讲备注｜原理解释与现场提示】</a:t>
            </a:r>
          </a:p>
          <a:p xmlns:a="http://schemas.openxmlformats.org/drawingml/2006/main">
            <a:r>
              <a:t>1. 讲解重点：围绕右侧四个动作展开，分别是“恢复原关联、写入前准入、有效结果去重提交、提交后按约定通知”。不要只念“增加会话号”而跳过保护范围。</a:t>
            </a:r>
          </a:p>
          <a:p xmlns:a="http://schemas.openxmlformats.org/drawingml/2006/main">
            <a:r>
              <a:t>2. 原理补充：检查时成立、真正使用时已不成立，属于检查与使用之间的竞争窗口。这里需要保护的是完整的状态更新边界，单独增加一次 if 判断不一定足够。</a:t>
            </a:r>
          </a:p>
          <a:p xmlns:a="http://schemas.openxmlformats.org/drawingml/2006/main">
            <a:r>
              <a:t>3. 执行域解释：一组有关联的状态变化遵守相同的串行或同步规则。它可以是已有事件队列，也可以是锁保护的更新范围，不等于给整个 SIM 子系统加一把全局大锁。</a:t>
            </a:r>
          </a:p>
          <a:p xmlns:a="http://schemas.openxmlformats.org/drawingml/2006/main">
            <a:r>
              <a:t>4. 具体检查点：请求登记保留原身份；失效先撤销旧会话的写入资格；重复结果不能二次推进完成；过期结果清理自身资源；正常结果按原顺序和条件对外可见。</a:t>
            </a:r>
          </a:p>
          <a:p xmlns:a="http://schemas.openxmlformats.org/drawingml/2006/main">
            <a:r>
              <a:t>5. 问题回应：“有共享指针或 weak_ptr，还需要会话吗？”对象存活只证明内存访问可能安全，仍需判断它是否代表当前有效的运行实例。反过来，会话标记也不能代替对象销毁与回调注销协议。</a:t>
            </a:r>
          </a:p>
          <a:p xmlns:a="http://schemas.openxmlformats.org/drawingml/2006/main">
            <a:r>
              <a:t>6. 现场问题：换卡处理、响应处理和通知分别在哪个线程？失效与写缓存是否经过同一调度或同步机制？请把这个答案落实到具体函数和队列。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【原设计依据与适用范围】</a:t>
            </a:r>
          </a:p>
          <a:p xmlns:a="http://schemas.openxmlformats.org/drawingml/2006/main">
            <a:r>
              <a:t>多SIM架构重构_问题分析与软件设计_V24.pptx，P12、P30、P43、P76–82。目标规则与示意流程仍须结合目标代码、产品能力和既有契约验证。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 · 演讲词与演讲备注</a:t>
            </a:r>
          </a:p>
          <a:p xmlns:a="http://schemas.openxmlformats.org/drawingml/2006/main">
            <a:r>
              <a:t>建议讲解时间：约 4 分钟。演讲备注用于备讲和问答，可按现场需要展开。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【本页要讲清楚】</a:t>
            </a:r>
          </a:p>
          <a:p xmlns:a="http://schemas.openxmlformats.org/drawingml/2006/main">
            <a:r>
              <a:t>理解接口兼容的范围，掌握兼容适配和行为验证各自承担的责任。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【演讲词｜可直接讲述】</a:t>
            </a:r>
          </a:p>
          <a:p xmlns:a="http://schemas.openxmlformats.org/drawingml/2006/main">
            <a:r>
              <a:t>这一页回答大家最关心的问题：内部模型变了，怎样保证外部调用方继续正常使用。请先看上面的三块。原有调用方仍使用原入口，兼容适配负责保留已有参数、权限和结果含义，内部则按新的职责模型处理。转换发生在边界，但用例本身仍必须满足原来承诺的完成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，内部把“卡应用就绪”“文件数据完整”“某项业务具备资格”分开维护，这是为了明确含义。对外的旧状态枚举仍按原契约派生，不能把内部新增状态直接塞给原调用方。同样，旧接口何时返回成功，是已经接收请求还是已经完成某项设备动作，也必须先查清，内部拆成多个步骤以后仍要兑现这个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表格第一行检查入口与结果。包括 SA 与 IPC 入口、方法、参数、权限、错误码，以及 slot、simId 在各接口中的具体含义。签名相同但参数解释改变，调用方仍可能出问题，所以需要把这些含义一起作为基线。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行检查异步行为。一个请求应回调几次，哪些通知必须先后出现，允许等待多久，以及调用方收到完成信号后再查询，应看到什么状态。这些都是接口实际使用的一部分。我们比较的是约定的因果关系和允许时限，具体时间值必须来自既有契约或确认后的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第三行提醒我们，有些消费者会直接读取 DataShare 数据，可能不经过上面的 API 适配。因此还要单独核对数据入口、字段、权限和读取语义。设备命令也要受到保护。做新旧逻辑对照时，可以在只读或纯计算范围运行影子逻辑，真实设备动作只能由选定的活动路径发送，避免测试过程中重复激活或切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第四行检查启动、停止以及跨 SO 的边界。拆成独立库以后，对象是否仍是预期的同一个实例，停止时是否还有回调访问已销毁对象，二进制调用约定是否兼容，以及持久化数据能否被回退版本理解，都需要核对。单独编译成功不能覆盖这些运行时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验证方法有两部分。先整理消费者真正依赖的契约，并为关键场景写独立预期，再在相同输入和设备条件下比较新旧实现。差分能帮助发现偏差，独立预期能避免把旧实现的已知问题当成正确标准。确认要修复的缺陷应单列，说明允许改变什么，并获得相应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因此，接口兼容需要有适配位置，也需要有可执行证据。最后一页会把这些要求收敛到首个改造范围，让我们能从一个具体场景开始验证设计。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【演讲备注｜原理解释与现场提示】</a:t>
            </a:r>
          </a:p>
          <a:p xmlns:a="http://schemas.openxmlformats.org/drawingml/2006/main">
            <a:r>
              <a:t>1. 讲解例子：若某旧接口约定“完成回调后能查询到新状态”，就要检查提交、回调和查询之间的可见性。这个例子用于说明契约类型，不能假定所有旧接口都具备同样承诺。</a:t>
            </a:r>
          </a:p>
          <a:p xmlns:a="http://schemas.openxmlformats.org/drawingml/2006/main">
            <a:r>
              <a:t>2. 术语解释：消费者契约测试从调用方可观察的输入与结果检查约定。差分是在可比条件下比较新旧实现。独立预期来自业务规范、确认后的规则和场景要求，不依赖某一实现自行证明自己正确。</a:t>
            </a:r>
          </a:p>
          <a:p xmlns:a="http://schemas.openxmlformats.org/drawingml/2006/main">
            <a:r>
              <a:t>3. DataShare 与 ABI：DataShare 是直接数据访问通道，需要验证数据契约。ABI 是二进制层面的调用与对象约定，跨动态库使用时要结合实际导出接口、编译配置和对象生命周期检查。</a:t>
            </a:r>
          </a:p>
          <a:p xmlns:a="http://schemas.openxmlformats.org/drawingml/2006/main">
            <a:r>
              <a:t>4. 问题回应：“内部 PendingReconcile 怎么返回？”它表示设备效果待核实，怎样转换为旧返回、等待或通知，要按该接口原有语义设计。兼容层不能自行把待核实包装成成功。</a:t>
            </a:r>
          </a:p>
          <a:p xmlns:a="http://schemas.openxmlformats.org/drawingml/2006/main">
            <a:r>
              <a:t>5. 现场问题：除了 API 调用者，谁直接订阅状态或读取数据？哪些消费者依赖回调后的查询结果？这些对象应进入验收清单。</a:t>
            </a:r>
          </a:p>
          <a:p xmlns:a="http://schemas.openxmlformats.org/drawingml/2006/main">
            <a:r>
              <a:t>6. 讲解边界：本页说明验证方法，不表示这些用例已经执行通过。旧接口不能表达的新增多端口能力，应另行演进契约。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【原设计依据与适用范围】</a:t>
            </a:r>
          </a:p>
          <a:p xmlns:a="http://schemas.openxmlformats.org/drawingml/2006/main">
            <a:r>
              <a:t>多SIM架构重构_问题分析与软件设计_V24.pptx，P4、P31、P37–43、P55、P71–75。目标规则与示意流程仍须结合目标代码、产品能力和既有契约验证。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 · 演讲词与演讲备注</a:t>
            </a:r>
          </a:p>
          <a:p xmlns:a="http://schemas.openxmlformats.org/drawingml/2006/main">
            <a:r>
              <a:t>建议讲解时间：约 3～4 分钟，随后讨论。演讲备注用于备讲和问答，可按现场需要展开。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【本页要讲清楚】</a:t>
            </a:r>
          </a:p>
          <a:p xmlns:a="http://schemas.openxmlformats.org/drawingml/2006/main">
            <a:r>
              <a:t>把讨论结论转成明确规则、代码落点和可判定的验收场景。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【演讲词｜可直接讲述】</a:t>
            </a:r>
          </a:p>
          <a:p xmlns:a="http://schemas.openxmlformats.org/drawingml/2006/main">
            <a:r>
              <a:t>前面已经把业务问题、设计规则和目标职责串起来了。这一页希望大家一起确定三个会直接影响第一次改造的事项。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第一是会话失效范围。换卡使旧会话失效，单纯文件重载更新加载轮次，这是建议起点。实际还要核对 Reset、应用变化、端口映射变化分别影响什么。如果多个端点共享设备，一次重置可能影响多个运行实例，失效范围必须跟实际设备影响一致。我们要形成一张明确规则：什么事件发生，哪些数据与会话失效，哪些业务身份继续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第二是文件完成与旧状态。请业务开发明确哪些数据是必要条件，哪些文件失败允许降级，以及旧 LOADED、状态查询和通知具体承诺什么。这样内部加载完成就有可判断的标准，兼容边界也知道何时能够输出旧状态。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第三是首个改造范围。建议先选择 Records 文件结果准入，找到请求登记、缓存写入和推进完成集合的真实入口，把会话与加载轮次保护放到提交边界。这一范围能同时检验生命周期、写入责任和外部行为，对应的异常交错也比较容易明确描述。是否具备合适的事件注入点，需要开发先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下方四个验收场景要写成明确输入与预期。第一，同槽换卡后送达 A 的旧响应，确认 B 的缓存、完成集合和通知都不受它影响。第二，同一卡启动新一轮文件加载后交错送达两轮结果，确认新轮次只接收自己的有效结果。第三，重复送达同一结果，确认完成项只更新一次，不多发完成通知。第四，执行正常加载以及契约规定的失败或降级分支，确认外部返回、状态和时序仍满足原约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施时先固定这些预期并核对已有保护，再做最小改造，最后用相同事件顺序复验。遇到规则尚未明确的地方，要记录谁负责确认、需要哪段代码或设备证据，以及得到什么结果才算闭环。这样下一次讨论就能围绕证据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会议结束后，我们把采用的规则、代码入口、测试预期和责任人写回同一份主设计。首个范围验证通过，说明这组生命周期与提交规则得到了检验。后续还要用主动切换、资源竞争和 eSIM 协作等场景验证其他职责。今天的目标是让大家能沿着一个真实场景说清楚：规则归谁、状态怎么变、结果怎么验证，并据此开始第一步实施。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【演讲备注｜原理解释与现场提示】</a:t>
            </a:r>
          </a:p>
          <a:p xmlns:a="http://schemas.openxmlformats.org/drawingml/2006/main">
            <a:r>
              <a:t>1. 主持节奏：先逐行确认表格中的规则和待核实依据，再讨论四个验收场景。最后确定一个具体改造入口及负责确认的人。时间不足时，优先收敛会话失效范围和首个入口。</a:t>
            </a:r>
          </a:p>
          <a:p xmlns:a="http://schemas.openxmlformats.org/drawingml/2006/main">
            <a:r>
              <a:t>2. 术语解释：改造切片指范围有限、从输入到业务结果都能完整验证的一段改动。这里选文件结果准入，是为了验证核心生命周期规则，完整多 SIM 架构还需要其他用例覆盖。</a:t>
            </a:r>
          </a:p>
          <a:p xmlns:a="http://schemas.openxmlformats.org/drawingml/2006/main">
            <a:r>
              <a:t>3. 验收记录示例：输入为“会话 A 发出文件请求，随后换成 B，再送达 A 的响应”。预期为“B 缓存不变、B 完成项不变、不产生由 A 结果触发的 B 完成通知”，同时确认旧请求自身清理不泄漏资源。记录真实执行入口和观测方式。</a:t>
            </a:r>
          </a:p>
          <a:p xmlns:a="http://schemas.openxmlformats.org/drawingml/2006/main">
            <a:r>
              <a:t>4. 问题回应：“为什么不一次把所有模块目录都拆完？”当前先通过一个完整业务路径检查规则是否成立。验证结论再用于指导职责迁移，可以尽早发现设计与真实线程、设备行为之间的差异。</a:t>
            </a:r>
          </a:p>
          <a:p xmlns:a="http://schemas.openxmlformats.org/drawingml/2006/main">
            <a:r>
              <a:t>5. 后续衔接：eSIM 主编排归属、共享资源争用、设备未知效果恢复，以及 SO 生命周期检查，需要进入相应后续场景。将条件和责任回写主设计，避免形成互相不一致的平行结论。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【原设计依据与适用范围】</a:t>
            </a:r>
          </a:p>
          <a:p xmlns:a="http://schemas.openxmlformats.org/drawingml/2006/main">
            <a:r>
              <a:t>多SIM架构重构_问题分析与软件设计_V24.pptx，P12、P43–45、P73–82。目标规则与示意流程仍须结合目标代码、产品能力和既有契约验证。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fcae848ef94b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dd584c6fb14a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de3a59f69244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fc15953fd4a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cde2da95645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ff3bf29be4f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E13788-C238-4BD3-8CCE-975C4D153E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2F28D6-FA08-4B13-B0CD-48B5C7AF5B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944A5A-F139-44D5-A8C0-BD74BCFEEC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964A8E-B6AF-4E79-B221-8BFDDE9F8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4B8EB2-1E9F-425D-9C8F-5534683820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037136-7E58-404B-9AA2-BE3F14CA65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52C6FD-2037-4993-98CA-955F2909EB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1FDE26-1D65-4A2F-97EE-28336FB70D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51DD5E-7AE9-4DAB-A646-A07B211BF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0486BC-221C-4F1C-8EA6-D1371C0DB9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47dc8c5c4d4565" /><Relationship Type="http://schemas.openxmlformats.org/officeDocument/2006/relationships/slideLayout" Target="/ppt/slideLayouts/slideLayout1.xml" Id="R565ca62b393a4eeb" /><Relationship Type="http://schemas.openxmlformats.org/officeDocument/2006/relationships/slideLayout" Target="/ppt/slideLayouts/slideLayout2.xml" Id="R2e143ca5c03f4c2b" /><Relationship Type="http://schemas.openxmlformats.org/officeDocument/2006/relationships/slideLayout" Target="/ppt/slideLayouts/slideLayout3.xml" Id="R2f240626ac744eb5" /><Relationship Type="http://schemas.openxmlformats.org/officeDocument/2006/relationships/slideLayout" Target="/ppt/slideLayouts/slideLayout4.xml" Id="Rbad76e93017f4a39" /><Relationship Type="http://schemas.openxmlformats.org/officeDocument/2006/relationships/slideLayout" Target="/ppt/slideLayouts/slideLayout5.xml" Id="R137d5bb0a6094842" /><Relationship Type="http://schemas.openxmlformats.org/officeDocument/2006/relationships/slideLayout" Target="/ppt/slideLayouts/slideLayout6.xml" Id="Rfd4a0f9456994d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5ca62b393a4eeb"/>
    <p:sldLayoutId xmlns:r="http://schemas.openxmlformats.org/officeDocument/2006/relationships" id="2147483650" r:id="R2e143ca5c03f4c2b"/>
    <p:sldLayoutId xmlns:r="http://schemas.openxmlformats.org/officeDocument/2006/relationships" id="2147483651" r:id="R2f240626ac744eb5"/>
    <p:sldLayoutId xmlns:r="http://schemas.openxmlformats.org/officeDocument/2006/relationships" id="2147483652" r:id="Rbad76e93017f4a39"/>
    <p:sldLayoutId xmlns:r="http://schemas.openxmlformats.org/officeDocument/2006/relationships" id="2147483653" r:id="R137d5bb0a6094842"/>
    <p:sldLayoutId xmlns:r="http://schemas.openxmlformats.org/officeDocument/2006/relationships" id="2147483654" r:id="Rfd4a0f9456994d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0b04b9f1c449b" /><Relationship Type="http://schemas.openxmlformats.org/officeDocument/2006/relationships/notesSlide" Target="/ppt/notesSlides/notesSlide1.xml" Id="R3d358fc2f5ba4b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2b9cd91b494b4c" /><Relationship Type="http://schemas.openxmlformats.org/officeDocument/2006/relationships/notesSlide" Target="/ppt/notesSlides/notesSlide2.xml" Id="R0874076a06fc4a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baff0e9d84aba" /><Relationship Type="http://schemas.openxmlformats.org/officeDocument/2006/relationships/notesSlide" Target="/ppt/notesSlides/notesSlide3.xml" Id="Ra0a47a346d714f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366c12d37410e" /><Relationship Type="http://schemas.openxmlformats.org/officeDocument/2006/relationships/notesSlide" Target="/ppt/notesSlides/notesSlide4.xml" Id="R9f22e85a30e04f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33f39e45f4da5" /><Relationship Type="http://schemas.openxmlformats.org/officeDocument/2006/relationships/notesSlide" Target="/ppt/notesSlides/notesSlide5.xml" Id="R79cf466a515848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2ea20bd0534120" /><Relationship Type="http://schemas.openxmlformats.org/officeDocument/2006/relationships/notesSlide" Target="/ppt/notesSlides/notesSlide6.xml" Id="R08d19f10705c45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cf86dc70c34b2f" /><Relationship Type="http://schemas.openxmlformats.org/officeDocument/2006/relationships/notesSlide" Target="/ppt/notesSlides/notesSlide7.xml" Id="R206476d55cf04d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4c2d657fc4ec3" /><Relationship Type="http://schemas.openxmlformats.org/officeDocument/2006/relationships/notesSlide" Target="/ppt/notesSlides/notesSlide8.xml" Id="R17616c5659cd43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-1">
            <a:extLst xmlns:a="http://schemas.openxmlformats.org/drawingml/2006/main">
              <a:ext uri="{FF2B5EF4-FFF2-40B4-BE49-F238E27FC236}">
                <a16:creationId xmlns:a16="http://schemas.microsoft.com/office/drawing/2014/main" id="{554DB906-A943-4A45-B98D-95CD5B66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380BA3F-6A0E-4724-830C-79D4733A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多 SIM 架构重构 · 开发讨论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8EF95A8-CF39-4060-B31B-A8989BA1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rPr>
              <a:t>多 SIM 重构：规则与状态的责任划分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D1AFCE3-6EF4-40CE-BE01-60EAC94B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11201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讨论目标：明确为何重构、职责怎样划分，以及如何保护既有业务</a:t>
            </a:r>
          </a:p>
        </p:txBody>
      </p:sp>
      <p:sp>
        <p:nvSpPr>
          <p:cNvPr id="5" name="rect-5">
            <a:extLst xmlns:a="http://schemas.openxmlformats.org/drawingml/2006/main">
              <a:ext uri="{FF2B5EF4-FFF2-40B4-BE49-F238E27FC236}">
                <a16:creationId xmlns:a16="http://schemas.microsoft.com/office/drawing/2014/main" id="{5A8BC9E4-20B3-4621-B01F-928C491F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D5AAA01-DC83-4424-9C37-497AD174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开发讨论版 ·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42E3A8B-7CC3-4AC1-8205-215EA075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2462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01 / 08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B3A4A163-3834-4662-81DA-340730E7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95475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rPr>
              <a:t>现有设计需要面对的变化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CEE97877-307F-4895-8C89-B4183871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7D113A31-9CCD-494C-9DEC-6B8A7D74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2887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rPr>
              <a:t>增加订阅或运行端口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F55F8BDB-2A2C-4940-8D64-CA860A9F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05125"/>
            <a:ext cx="5191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身份、连接、默认角色与资源需要协调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同一规则容易在多个入口重复解释</a:t>
            </a:r>
          </a:p>
        </p:txBody>
      </p:sp>
      <p:sp>
        <p:nvSpPr>
          <p:cNvPr id="12" name="rect-12">
            <a:extLst xmlns:a="http://schemas.openxmlformats.org/drawingml/2006/main">
              <a:ext uri="{FF2B5EF4-FFF2-40B4-BE49-F238E27FC236}">
                <a16:creationId xmlns:a16="http://schemas.microsoft.com/office/drawing/2014/main" id="{56B177CB-09B6-4C6B-9682-91574791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00475"/>
            <a:ext cx="581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6FEDC1EC-C3B3-4FD4-B56A-CDEF0BB2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052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55CE77EF-000B-4CFB-93E7-54600590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rPr>
              <a:t>换卡、刷新与设备重启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FB8F9A98-672C-4939-8768-F4FF6D02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5191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同一位置的对象和加载轮次会改变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旧响应需要明确的失效与准入规则</a:t>
            </a:r>
          </a:p>
        </p:txBody>
      </p:sp>
      <p:sp>
        <p:nvSpPr>
          <p:cNvPr id="16" name="rect-16">
            <a:extLst xmlns:a="http://schemas.openxmlformats.org/drawingml/2006/main">
              <a:ext uri="{FF2B5EF4-FFF2-40B4-BE49-F238E27FC236}">
                <a16:creationId xmlns:a16="http://schemas.microsoft.com/office/drawing/2014/main" id="{E926BDBC-0332-4A81-9573-30656296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14525"/>
            <a:ext cx="1143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D2C0F21D-20A7-4341-B0D2-01B0534B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954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rPr>
              <a:t>目标行为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7FE6A5C3-7581-4223-A86E-4ABB4076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76500"/>
            <a:ext cx="423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扩展组合复用既有规则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9986E1E8-9B5E-43D6-A2CC-5D553189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05125"/>
            <a:ext cx="4191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修改主要留在所属职责与设备适配内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4A0715C3-EF4C-4645-8040-60D2CD79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05225"/>
            <a:ext cx="423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rPr>
              <a:t>状态变化能够解释和验证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E007D45C-F168-4E97-B63C-C04EB610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33850"/>
            <a:ext cx="4191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旧结果不串写，未知设备效果可核实</a:t>
            </a:r>
          </a:p>
        </p:txBody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31C40B0E-6290-467C-B8E3-897AF42F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53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共同约束</a:t>
            </a:r>
          </a:p>
        </p:txBody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B9C2B8A2-1C24-423D-BD7F-6407CA64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95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既有能力和外部接口承诺继续保持</a:t>
            </a:r>
          </a:p>
        </p:txBody>
      </p:sp>
      <p:sp>
        <p:nvSpPr>
          <p:cNvPr id="24" name="rect-24">
            <a:extLst xmlns:a="http://schemas.openxmlformats.org/drawingml/2006/main">
              <a:ext uri="{FF2B5EF4-FFF2-40B4-BE49-F238E27FC236}">
                <a16:creationId xmlns:a16="http://schemas.microsoft.com/office/drawing/2014/main" id="{FF932FB6-E37E-4383-9A91-E9DBAE93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34075"/>
            <a:ext cx="1120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B88B7944-1CCF-46F9-8208-85F5C024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76950"/>
            <a:ext cx="1120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范围：Core 内 SIM / eSIM 运行管理，沿用原进程、SA 和外围协作契约</a:t>
            </a:r>
          </a:p>
        </p:txBody>
      </p:sp>
    </p:spTree>
    <p:extLst>
      <p:ext uri="{BB962C8B-B14F-4D97-AF65-F5344CB8AC3E}">
        <p14:creationId xmlns:p14="http://schemas.microsoft.com/office/powerpoint/2010/main" val="8755371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025C7-08E6-4016-AF72-340E6A50F2E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772400" y="29956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C34449"/>
            </a:solidFill>
            <a:prstDash val="solid"/>
            <a:headEnd type="none" w="sm" len="sm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2BA67-1240-4794-A720-6C6D0EDB94B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48100" y="29956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6AB8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28" name="rect-26">
            <a:extLst xmlns:a="http://schemas.openxmlformats.org/drawingml/2006/main">
              <a:ext uri="{FF2B5EF4-FFF2-40B4-BE49-F238E27FC236}">
                <a16:creationId xmlns:a16="http://schemas.microsoft.com/office/drawing/2014/main" id="{984CDF0A-89D2-4C96-A99A-E4ED51DA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7">
            <a:extLst xmlns:a="http://schemas.openxmlformats.org/drawingml/2006/main">
              <a:ext uri="{FF2B5EF4-FFF2-40B4-BE49-F238E27FC236}">
                <a16:creationId xmlns:a16="http://schemas.microsoft.com/office/drawing/2014/main" id="{2C01276A-4E62-40F8-B426-A3378E02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多 SIM 架构重构 · 开发讨论</a:t>
            </a:r>
          </a:p>
        </p:txBody>
      </p:sp>
      <p:sp>
        <p:nvSpPr>
          <p:cNvPr id="3" name="text-28">
            <a:extLst xmlns:a="http://schemas.openxmlformats.org/drawingml/2006/main">
              <a:ext uri="{FF2B5EF4-FFF2-40B4-BE49-F238E27FC236}">
                <a16:creationId xmlns:a16="http://schemas.microsoft.com/office/drawing/2014/main" id="{6E162C7E-0AB0-4E27-A094-294652B1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rPr>
              <a:t>同槽换卡：A 的旧响应晚于 B 到达</a:t>
            </a:r>
          </a:p>
        </p:txBody>
      </p:sp>
      <p:sp>
        <p:nvSpPr>
          <p:cNvPr id="4" name="text-29">
            <a:extLst xmlns:a="http://schemas.openxmlformats.org/drawingml/2006/main">
              <a:ext uri="{FF2B5EF4-FFF2-40B4-BE49-F238E27FC236}">
                <a16:creationId xmlns:a16="http://schemas.microsoft.com/office/drawing/2014/main" id="{B1674D61-008E-4E12-BC55-C35E232E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11201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讨论场景：位置复用后，仍在途的文件读取响应应该怎样处理</a:t>
            </a:r>
          </a:p>
        </p:txBody>
      </p:sp>
      <p:sp>
        <p:nvSpPr>
          <p:cNvPr id="5" name="rect-30">
            <a:extLst xmlns:a="http://schemas.openxmlformats.org/drawingml/2006/main">
              <a:ext uri="{FF2B5EF4-FFF2-40B4-BE49-F238E27FC236}">
                <a16:creationId xmlns:a16="http://schemas.microsoft.com/office/drawing/2014/main" id="{74DD4196-BB54-4BCB-B395-A85DBA17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31">
            <a:extLst xmlns:a="http://schemas.openxmlformats.org/drawingml/2006/main">
              <a:ext uri="{FF2B5EF4-FFF2-40B4-BE49-F238E27FC236}">
                <a16:creationId xmlns:a16="http://schemas.microsoft.com/office/drawing/2014/main" id="{20BA320C-53A1-492F-9E0A-9BB4D3C3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开发讨论版 · 2026.10</a:t>
            </a:r>
          </a:p>
        </p:txBody>
      </p:sp>
      <p:sp>
        <p:nvSpPr>
          <p:cNvPr id="7" name="text-32">
            <a:extLst xmlns:a="http://schemas.openxmlformats.org/drawingml/2006/main">
              <a:ext uri="{FF2B5EF4-FFF2-40B4-BE49-F238E27FC236}">
                <a16:creationId xmlns:a16="http://schemas.microsoft.com/office/drawing/2014/main" id="{58531856-0709-45B1-85B5-8C35A8A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2462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8" name="case-a-33">
            <a:extLst xmlns:a="http://schemas.openxmlformats.org/drawingml/2006/main">
              <a:ext uri="{FF2B5EF4-FFF2-40B4-BE49-F238E27FC236}">
                <a16:creationId xmlns:a16="http://schemas.microsoft.com/office/drawing/2014/main" id="{2B254A9A-8007-4F30-98D6-FED9CB79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62175"/>
            <a:ext cx="33528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46AB8"/>
            </a:solidFill>
            <a:prstDash val="solid"/>
          </a:ln>
        </p:spPr>
      </p:sp>
      <p:sp>
        <p:nvSpPr>
          <p:cNvPr id="9" name="text-34">
            <a:extLst xmlns:a="http://schemas.openxmlformats.org/drawingml/2006/main">
              <a:ext uri="{FF2B5EF4-FFF2-40B4-BE49-F238E27FC236}">
                <a16:creationId xmlns:a16="http://schemas.microsoft.com/office/drawing/2014/main" id="{C71D3577-FF84-4340-A619-F185E2B4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76475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T0  卡 A 开始加载</a:t>
            </a:r>
          </a:p>
        </p:txBody>
      </p:sp>
      <p:sp>
        <p:nvSpPr>
          <p:cNvPr id="10" name="text-35">
            <a:extLst xmlns:a="http://schemas.openxmlformats.org/drawingml/2006/main">
              <a:ext uri="{FF2B5EF4-FFF2-40B4-BE49-F238E27FC236}">
                <a16:creationId xmlns:a16="http://schemas.microsoft.com/office/drawing/2014/main" id="{DC0EDA85-C2AF-4D1B-B5F9-F557C8FD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304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位置：slot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会话 A，加载第 7 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发出文件请求 a1</a:t>
            </a:r>
          </a:p>
        </p:txBody>
      </p:sp>
      <p:sp>
        <p:nvSpPr>
          <p:cNvPr id="11" name="case-b-36">
            <a:extLst xmlns:a="http://schemas.openxmlformats.org/drawingml/2006/main">
              <a:ext uri="{FF2B5EF4-FFF2-40B4-BE49-F238E27FC236}">
                <a16:creationId xmlns:a16="http://schemas.microsoft.com/office/drawing/2014/main" id="{B60385BA-528D-4DEE-9AEE-1BADD494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62175"/>
            <a:ext cx="33528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8C9F"/>
            </a:solidFill>
            <a:prstDash val="solid"/>
          </a:ln>
        </p:spPr>
      </p:sp>
      <p:sp>
        <p:nvSpPr>
          <p:cNvPr id="12" name="text-37">
            <a:extLst xmlns:a="http://schemas.openxmlformats.org/drawingml/2006/main">
              <a:ext uri="{FF2B5EF4-FFF2-40B4-BE49-F238E27FC236}">
                <a16:creationId xmlns:a16="http://schemas.microsoft.com/office/drawing/2014/main" id="{7176A80B-1DCE-4452-8E05-0F17D61F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76475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rPr>
              <a:t>T1  同槽换成卡 B</a:t>
            </a:r>
          </a:p>
        </p:txBody>
      </p:sp>
      <p:sp>
        <p:nvSpPr>
          <p:cNvPr id="13" name="text-38">
            <a:extLst xmlns:a="http://schemas.openxmlformats.org/drawingml/2006/main">
              <a:ext uri="{FF2B5EF4-FFF2-40B4-BE49-F238E27FC236}">
                <a16:creationId xmlns:a16="http://schemas.microsoft.com/office/drawing/2014/main" id="{1CBE7078-C33C-4DCA-A656-EAE95488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304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位置仍为 slot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会话 B，开始自己的加载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A 的请求仍可能在途</a:t>
            </a:r>
          </a:p>
        </p:txBody>
      </p:sp>
      <p:sp>
        <p:nvSpPr>
          <p:cNvPr id="14" name="case-late-39">
            <a:extLst xmlns:a="http://schemas.openxmlformats.org/drawingml/2006/main">
              <a:ext uri="{FF2B5EF4-FFF2-40B4-BE49-F238E27FC236}">
                <a16:creationId xmlns:a16="http://schemas.microsoft.com/office/drawing/2014/main" id="{05067D16-2630-46FD-9625-D6BBABDF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33528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34449"/>
            </a:solidFill>
            <a:prstDash val="solid"/>
          </a:ln>
        </p:spPr>
      </p:sp>
      <p:sp>
        <p:nvSpPr>
          <p:cNvPr id="15" name="text-40">
            <a:extLst xmlns:a="http://schemas.openxmlformats.org/drawingml/2006/main">
              <a:ext uri="{FF2B5EF4-FFF2-40B4-BE49-F238E27FC236}">
                <a16:creationId xmlns:a16="http://schemas.microsoft.com/office/drawing/2014/main" id="{5683A9A3-0ED9-4FE3-9B99-CE62DA84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76475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rPr>
              <a:t>T2  A 的 a1 迟到</a:t>
            </a:r>
          </a:p>
        </p:txBody>
      </p:sp>
      <p:sp>
        <p:nvSpPr>
          <p:cNvPr id="16" name="text-41">
            <a:extLst xmlns:a="http://schemas.openxmlformats.org/drawingml/2006/main">
              <a:ext uri="{FF2B5EF4-FFF2-40B4-BE49-F238E27FC236}">
                <a16:creationId xmlns:a16="http://schemas.microsoft.com/office/drawing/2014/main" id="{13A989BC-86AD-4AAC-BBFC-6E961A9A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304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响应能关联到原请求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但当前运行对象已是 B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是否允许写当前数据？</a:t>
            </a:r>
          </a:p>
        </p:txBody>
      </p:sp>
      <p:sp>
        <p:nvSpPr>
          <p:cNvPr id="19" name="text-42">
            <a:extLst xmlns:a="http://schemas.openxmlformats.org/drawingml/2006/main">
              <a:ext uri="{FF2B5EF4-FFF2-40B4-BE49-F238E27FC236}">
                <a16:creationId xmlns:a16="http://schemas.microsoft.com/office/drawing/2014/main" id="{85D500A8-46D4-46CD-8B0C-CB14AAFB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57675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rPr>
              <a:t>位置没有变化，当前运行会话已经变化</a:t>
            </a:r>
          </a:p>
        </p:txBody>
      </p:sp>
      <p:sp>
        <p:nvSpPr>
          <p:cNvPr id="20" name="text-43">
            <a:extLst xmlns:a="http://schemas.openxmlformats.org/drawingml/2006/main">
              <a:ext uri="{FF2B5EF4-FFF2-40B4-BE49-F238E27FC236}">
                <a16:creationId xmlns:a16="http://schemas.microsoft.com/office/drawing/2014/main" id="{DF5EF9A1-CEDE-4298-B2C7-F214EEBB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3581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缓存</a:t>
            </a:r>
          </a:p>
        </p:txBody>
      </p:sp>
      <p:sp>
        <p:nvSpPr>
          <p:cNvPr id="21" name="text-44">
            <a:extLst xmlns:a="http://schemas.openxmlformats.org/drawingml/2006/main">
              <a:ext uri="{FF2B5EF4-FFF2-40B4-BE49-F238E27FC236}">
                <a16:creationId xmlns:a16="http://schemas.microsoft.com/office/drawing/2014/main" id="{4BA1EDFC-D004-4D99-A96A-A9A3738D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358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A 的数据不写入 B 的缓存</a:t>
            </a:r>
          </a:p>
        </p:txBody>
      </p:sp>
      <p:sp>
        <p:nvSpPr>
          <p:cNvPr id="22" name="text-45">
            <a:extLst xmlns:a="http://schemas.openxmlformats.org/drawingml/2006/main">
              <a:ext uri="{FF2B5EF4-FFF2-40B4-BE49-F238E27FC236}">
                <a16:creationId xmlns:a16="http://schemas.microsoft.com/office/drawing/2014/main" id="{795EF5C3-C945-426A-89E0-CF6EEA29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76800"/>
            <a:ext cx="3581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23" name="text-46">
            <a:extLst xmlns:a="http://schemas.openxmlformats.org/drawingml/2006/main">
              <a:ext uri="{FF2B5EF4-FFF2-40B4-BE49-F238E27FC236}">
                <a16:creationId xmlns:a16="http://schemas.microsoft.com/office/drawing/2014/main" id="{0BBB558E-9A84-44F7-B9F7-E829E902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38750"/>
            <a:ext cx="358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A 的响应不完成 B 的加载</a:t>
            </a:r>
          </a:p>
        </p:txBody>
      </p:sp>
      <p:sp>
        <p:nvSpPr>
          <p:cNvPr id="24" name="text-47">
            <a:extLst xmlns:a="http://schemas.openxmlformats.org/drawingml/2006/main">
              <a:ext uri="{FF2B5EF4-FFF2-40B4-BE49-F238E27FC236}">
                <a16:creationId xmlns:a16="http://schemas.microsoft.com/office/drawing/2014/main" id="{D7AC58A0-1123-44C2-8120-C7588DD3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3581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通知</a:t>
            </a:r>
          </a:p>
        </p:txBody>
      </p:sp>
      <p:sp>
        <p:nvSpPr>
          <p:cNvPr id="25" name="text-48">
            <a:extLst xmlns:a="http://schemas.openxmlformats.org/drawingml/2006/main">
              <a:ext uri="{FF2B5EF4-FFF2-40B4-BE49-F238E27FC236}">
                <a16:creationId xmlns:a16="http://schemas.microsoft.com/office/drawing/2014/main" id="{DAA6153F-3C08-4C34-A26D-DD8EB14F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38750"/>
            <a:ext cx="358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B 的状态依据 B 的有效数据判定</a:t>
            </a:r>
          </a:p>
        </p:txBody>
      </p:sp>
      <p:sp>
        <p:nvSpPr>
          <p:cNvPr id="26" name="rect-49">
            <a:extLst xmlns:a="http://schemas.openxmlformats.org/drawingml/2006/main">
              <a:ext uri="{FF2B5EF4-FFF2-40B4-BE49-F238E27FC236}">
                <a16:creationId xmlns:a16="http://schemas.microsoft.com/office/drawing/2014/main" id="{08423D77-4480-4D94-8011-9B6B9F16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34075"/>
            <a:ext cx="1120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50">
            <a:extLst xmlns:a="http://schemas.openxmlformats.org/drawingml/2006/main">
              <a:ext uri="{FF2B5EF4-FFF2-40B4-BE49-F238E27FC236}">
                <a16:creationId xmlns:a16="http://schemas.microsoft.com/office/drawing/2014/main" id="{6A33F0D2-17B1-44E8-8107-8C407CC9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76950"/>
            <a:ext cx="1120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共同确认：当前哪些入口承担关联、失效和写入前检查？</a:t>
            </a:r>
          </a:p>
        </p:txBody>
      </p:sp>
    </p:spTree>
    <p:extLst>
      <p:ext uri="{BB962C8B-B14F-4D97-AF65-F5344CB8AC3E}">
        <p14:creationId xmlns:p14="http://schemas.microsoft.com/office/powerpoint/2010/main" val="1752988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-51">
            <a:extLst xmlns:a="http://schemas.openxmlformats.org/drawingml/2006/main">
              <a:ext uri="{FF2B5EF4-FFF2-40B4-BE49-F238E27FC236}">
                <a16:creationId xmlns:a16="http://schemas.microsoft.com/office/drawing/2014/main" id="{948D47D2-E19B-4FFB-9876-6D49F15C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5DB9B4B5-8316-4DF1-82E0-E606B91F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多 SIM 架构重构 · 开发讨论</a:t>
            </a:r>
          </a:p>
        </p:txBody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DA0B08B9-C71F-41A4-8D7D-A3FDA8CC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rPr>
              <a:t>当前结构：关联线索分散在多个处理入口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66BF6398-4664-4A3A-AD9A-C2FB9CDA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11201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以下按职责归纳现状，已有保护保留，具体缺口需在目标代码中核对</a:t>
            </a:r>
          </a:p>
        </p:txBody>
      </p:sp>
      <p:sp>
        <p:nvSpPr>
          <p:cNvPr id="5" name="rect-55">
            <a:extLst xmlns:a="http://schemas.openxmlformats.org/drawingml/2006/main">
              <a:ext uri="{FF2B5EF4-FFF2-40B4-BE49-F238E27FC236}">
                <a16:creationId xmlns:a16="http://schemas.microsoft.com/office/drawing/2014/main" id="{64AEA607-6F9A-42AA-B16D-D0C669A2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6">
            <a:extLst xmlns:a="http://schemas.openxmlformats.org/drawingml/2006/main">
              <a:ext uri="{FF2B5EF4-FFF2-40B4-BE49-F238E27FC236}">
                <a16:creationId xmlns:a16="http://schemas.microsoft.com/office/drawing/2014/main" id="{03DEEA93-B1E3-488D-BA61-741124BC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开发讨论版 · 2026.10</a:t>
            </a:r>
          </a:p>
        </p:txBody>
      </p:sp>
      <p:sp>
        <p:nvSpPr>
          <p:cNvPr id="7" name="text-57">
            <a:extLst xmlns:a="http://schemas.openxmlformats.org/drawingml/2006/main">
              <a:ext uri="{FF2B5EF4-FFF2-40B4-BE49-F238E27FC236}">
                <a16:creationId xmlns:a16="http://schemas.microsoft.com/office/drawing/2014/main" id="{4FBA3CA2-8147-4636-AF58-A02E934E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2462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B12F8-A888-4A30-BD1F-6505D3DF921D}"/>
              </a:ext>
            </a:extLst>
          </p:cNvPr>
          <p:cNvGraphicFramePr/>
          <p:nvPr/>
        </p:nvGraphicFramePr>
        <p:xfrm>
          <a:off xmlns:a="http://schemas.openxmlformats.org/drawingml/2006/main" x="495300" y="2000250"/>
          <a:ext xmlns:a="http://schemas.openxmlformats.org/drawingml/2006/main" cx="11201400" cy="36290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4476750"/>
                <a:gridCol w="3581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现有结构与线索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T w="6191">
                      <a:solidFill>
                        <a:srgbClr val="CDD8E6"/>
                      </a:solidFill>
                      <a:prstDash val="solid"/>
                    </a:lnT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08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需要开发核对的问题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T w="6191">
                      <a:solidFill>
                        <a:srgbClr val="CDD8E6"/>
                      </a:solidFill>
                      <a:prstDash val="solid"/>
                    </a:lnT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08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形成的设计要求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T w="6191">
                      <a:solidFill>
                        <a:srgbClr val="CDD8E6"/>
                      </a:solidFill>
                      <a:prstDash val="solid"/>
                    </a:lnT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081426"/>
                    </a:solidFill>
                  </a:tcPr>
                </a:tc>
              </a:tr>
              <a:tr h="1057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slot 级对象与缓存</a:t>
                      </a:r>
                    </a:p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Manager vectors、账户索引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位置复用后，谁确认业务对象已替换？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多个对象的创建和清理是否一致？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身份与位置分别表达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会话失效有统一维护责任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回调与文件加载</a:t>
                      </a:r>
                    </a:p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serial、计数和缓存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请求匹配后，还会检查会话和轮次吗？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检查是否发生在写缓存之前？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发起时记录关联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写入前统一准入和去重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</a:tr>
              <a:tr h="1057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状态、账户与通知</a:t>
                      </a:r>
                    </a:p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多入口消费 READY / LOADED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谁定义文件完成、账户资格和业务可用？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同一条件是否需要多处解释？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各事实有明确维护者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对外状态按契约派生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58">
            <a:extLst xmlns:a="http://schemas.openxmlformats.org/drawingml/2006/main">
              <a:ext uri="{FF2B5EF4-FFF2-40B4-BE49-F238E27FC236}">
                <a16:creationId xmlns:a16="http://schemas.microsoft.com/office/drawing/2014/main" id="{406F20E6-790B-4520-9B33-B48F3AE9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864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扩展时</a:t>
            </a:r>
          </a:p>
        </p:txBody>
      </p:sp>
      <p:sp>
        <p:nvSpPr>
          <p:cNvPr id="10" name="text-59">
            <a:extLst xmlns:a="http://schemas.openxmlformats.org/drawingml/2006/main">
              <a:ext uri="{FF2B5EF4-FFF2-40B4-BE49-F238E27FC236}">
                <a16:creationId xmlns:a16="http://schemas.microsoft.com/office/drawing/2014/main" id="{B07ACA0E-D270-4D71-819C-674C0BDB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886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新增 Port 需要明确映射与资格规则的修改归属</a:t>
            </a:r>
          </a:p>
        </p:txBody>
      </p:sp>
    </p:spTree>
    <p:extLst>
      <p:ext uri="{BB962C8B-B14F-4D97-AF65-F5344CB8AC3E}">
        <p14:creationId xmlns:p14="http://schemas.microsoft.com/office/powerpoint/2010/main" val="13343990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-60">
            <a:extLst xmlns:a="http://schemas.openxmlformats.org/drawingml/2006/main">
              <a:ext uri="{FF2B5EF4-FFF2-40B4-BE49-F238E27FC236}">
                <a16:creationId xmlns:a16="http://schemas.microsoft.com/office/drawing/2014/main" id="{B02AA8AC-DE67-405F-8917-7A460464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61">
            <a:extLst xmlns:a="http://schemas.openxmlformats.org/drawingml/2006/main">
              <a:ext uri="{FF2B5EF4-FFF2-40B4-BE49-F238E27FC236}">
                <a16:creationId xmlns:a16="http://schemas.microsoft.com/office/drawing/2014/main" id="{B15ACD9F-E181-45F9-84FF-89B7D85D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多 SIM 架构重构 · 开发讨论</a:t>
            </a:r>
          </a:p>
        </p:txBody>
      </p:sp>
      <p:sp>
        <p:nvSpPr>
          <p:cNvPr id="3" name="text-62">
            <a:extLst xmlns:a="http://schemas.openxmlformats.org/drawingml/2006/main">
              <a:ext uri="{FF2B5EF4-FFF2-40B4-BE49-F238E27FC236}">
                <a16:creationId xmlns:a16="http://schemas.microsoft.com/office/drawing/2014/main" id="{39F5EBDE-D6F6-4A13-9184-D0A45B6B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rPr>
              <a:t>五条设计规则及其代码落点</a:t>
            </a:r>
          </a:p>
        </p:txBody>
      </p:sp>
      <p:sp>
        <p:nvSpPr>
          <p:cNvPr id="4" name="text-63">
            <a:extLst xmlns:a="http://schemas.openxmlformats.org/drawingml/2006/main">
              <a:ext uri="{FF2B5EF4-FFF2-40B4-BE49-F238E27FC236}">
                <a16:creationId xmlns:a16="http://schemas.microsoft.com/office/drawing/2014/main" id="{CB3E28E7-BE71-4E01-B3BC-DBFA0DA8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11201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先说明业务含义，再确定模块、类型和接口</a:t>
            </a:r>
          </a:p>
        </p:txBody>
      </p:sp>
      <p:sp>
        <p:nvSpPr>
          <p:cNvPr id="5" name="rect-64">
            <a:extLst xmlns:a="http://schemas.openxmlformats.org/drawingml/2006/main">
              <a:ext uri="{FF2B5EF4-FFF2-40B4-BE49-F238E27FC236}">
                <a16:creationId xmlns:a16="http://schemas.microsoft.com/office/drawing/2014/main" id="{304E91A7-05C3-4631-8899-111D365D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5">
            <a:extLst xmlns:a="http://schemas.openxmlformats.org/drawingml/2006/main">
              <a:ext uri="{FF2B5EF4-FFF2-40B4-BE49-F238E27FC236}">
                <a16:creationId xmlns:a16="http://schemas.microsoft.com/office/drawing/2014/main" id="{2EC857CF-DDEF-4BEB-A95B-01C2D518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开发讨论版 · 2026.10</a:t>
            </a:r>
          </a:p>
        </p:txBody>
      </p:sp>
      <p:sp>
        <p:nvSpPr>
          <p:cNvPr id="7" name="text-66">
            <a:extLst xmlns:a="http://schemas.openxmlformats.org/drawingml/2006/main">
              <a:ext uri="{FF2B5EF4-FFF2-40B4-BE49-F238E27FC236}">
                <a16:creationId xmlns:a16="http://schemas.microsoft.com/office/drawing/2014/main" id="{02B6A116-8AAC-4BC8-B190-26707DC1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2462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BCA8A-7C22-40FD-86EF-852B5BD52FAE}"/>
              </a:ext>
            </a:extLst>
          </p:cNvPr>
          <p:cNvGraphicFramePr/>
          <p:nvPr/>
        </p:nvGraphicFramePr>
        <p:xfrm>
          <a:off xmlns:a="http://schemas.openxmlformats.org/drawingml/2006/main" x="495300" y="1828800"/>
          <a:ext xmlns:a="http://schemas.openxmlformats.org/drawingml/2006/main" cx="112014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05100"/>
                <a:gridCol w="4114800"/>
                <a:gridCol w="4381500"/>
              </a:tblGrid>
              <a:tr h="4286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设计规则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T w="6191">
                      <a:solidFill>
                        <a:srgbClr val="CDD8E6"/>
                      </a:solidFill>
                      <a:prstDash val="solid"/>
                    </a:lnT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08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业务含义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T w="6191">
                      <a:solidFill>
                        <a:srgbClr val="CDD8E6"/>
                      </a:solidFill>
                      <a:prstDash val="solid"/>
                    </a:lnT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08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实现中应看到什么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T w="6191">
                      <a:solidFill>
                        <a:srgbClr val="CDD8E6"/>
                      </a:solidFill>
                      <a:prstDash val="solid"/>
                    </a:lnT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081426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身份与位置分开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订阅是谁，与当前连在哪里分别判断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订阅标识、来源与当前 Binding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按身份策略决定延续或重建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状态与有效期分开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卡就绪、文件完成、业务可用各有条件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请求、会话、加载轮次的关联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旧响应写入前统一校验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每项事实有明确维护者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协作方通过公开契约获取或请求变化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受控提交入口和只读快照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减少重复规则与旁路写入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完整用例承担恢复责任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主动切换需要说明成功、未知与恢复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唯一主编排及明确子步骤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超时后核实真实设备效果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旧接口承诺独立保持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内部细化后，调用方继续按原约定使用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兼容适配和消费者契约测试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错误、通知与完成语义明确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-67">
            <a:extLst xmlns:a="http://schemas.openxmlformats.org/drawingml/2006/main">
              <a:ext uri="{FF2B5EF4-FFF2-40B4-BE49-F238E27FC236}">
                <a16:creationId xmlns:a16="http://schemas.microsoft.com/office/drawing/2014/main" id="{99F9CABB-63F5-4F81-9BB9-A351C79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57900"/>
            <a:ext cx="1120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68">
            <a:extLst xmlns:a="http://schemas.openxmlformats.org/drawingml/2006/main">
              <a:ext uri="{FF2B5EF4-FFF2-40B4-BE49-F238E27FC236}">
                <a16:creationId xmlns:a16="http://schemas.microsoft.com/office/drawing/2014/main" id="{F0AA0383-43C3-4C95-A4ED-1DA9A9E4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00775"/>
            <a:ext cx="1120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每个新增模块都要解释：集中维护哪项知识，减少调用方的哪类判断</a:t>
            </a:r>
          </a:p>
        </p:txBody>
      </p:sp>
    </p:spTree>
    <p:extLst>
      <p:ext uri="{BB962C8B-B14F-4D97-AF65-F5344CB8AC3E}">
        <p14:creationId xmlns:p14="http://schemas.microsoft.com/office/powerpoint/2010/main" val="1848100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50E885-1190-4D16-BBC8-12CF57C6B64C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6096000" y="500062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8C9F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26B6A-408B-4A6C-ADF1-AD07E13DE95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235267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6AB8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31" name="rect-69">
            <a:extLst xmlns:a="http://schemas.openxmlformats.org/drawingml/2006/main">
              <a:ext uri="{FF2B5EF4-FFF2-40B4-BE49-F238E27FC236}">
                <a16:creationId xmlns:a16="http://schemas.microsoft.com/office/drawing/2014/main" id="{DDD0DE56-D089-4FAF-8F66-95274E15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5BD6D084-C945-4D42-82B0-2AC8A8EC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多 SIM 架构重构 · 开发讨论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B5AA01BC-2A4B-41DE-9752-DE9FEED3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rPr>
              <a:t>目标职责：每项事实都有明确维护者</a:t>
            </a:r>
          </a:p>
        </p:txBody>
      </p:sp>
      <p:sp>
        <p:nvSpPr>
          <p:cNvPr id="4" name="text-72">
            <a:extLst xmlns:a="http://schemas.openxmlformats.org/drawingml/2006/main">
              <a:ext uri="{FF2B5EF4-FFF2-40B4-BE49-F238E27FC236}">
                <a16:creationId xmlns:a16="http://schemas.microsoft.com/office/drawing/2014/main" id="{EE0E3B10-7107-41CB-AF11-AA76C38E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11201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图中表示职责分组，各模块通过公开契约协作</a:t>
            </a:r>
          </a:p>
        </p:txBody>
      </p:sp>
      <p:sp>
        <p:nvSpPr>
          <p:cNvPr id="5" name="rect-73">
            <a:extLst xmlns:a="http://schemas.openxmlformats.org/drawingml/2006/main">
              <a:ext uri="{FF2B5EF4-FFF2-40B4-BE49-F238E27FC236}">
                <a16:creationId xmlns:a16="http://schemas.microsoft.com/office/drawing/2014/main" id="{6FB408F6-13A0-456C-8118-36909F34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74">
            <a:extLst xmlns:a="http://schemas.openxmlformats.org/drawingml/2006/main">
              <a:ext uri="{FF2B5EF4-FFF2-40B4-BE49-F238E27FC236}">
                <a16:creationId xmlns:a16="http://schemas.microsoft.com/office/drawing/2014/main" id="{9A17D236-0AEC-41E7-A94D-8F854374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开发讨论版 · 2026.10</a:t>
            </a:r>
          </a:p>
        </p:txBody>
      </p:sp>
      <p:sp>
        <p:nvSpPr>
          <p:cNvPr id="7" name="text-75">
            <a:extLst xmlns:a="http://schemas.openxmlformats.org/drawingml/2006/main">
              <a:ext uri="{FF2B5EF4-FFF2-40B4-BE49-F238E27FC236}">
                <a16:creationId xmlns:a16="http://schemas.microsoft.com/office/drawing/2014/main" id="{CBBE27A0-FD90-4976-BB15-54832526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2462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8" name="compatibility-76">
            <a:extLst xmlns:a="http://schemas.openxmlformats.org/drawingml/2006/main">
              <a:ext uri="{FF2B5EF4-FFF2-40B4-BE49-F238E27FC236}">
                <a16:creationId xmlns:a16="http://schemas.microsoft.com/office/drawing/2014/main" id="{7B0F8811-EB13-4169-966A-15DD5C84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201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46AB8"/>
            </a:solidFill>
            <a:prstDash val="solid"/>
          </a:ln>
        </p:spPr>
      </p:sp>
      <p:sp>
        <p:nvSpPr>
          <p:cNvPr id="9" name="text-77">
            <a:extLst xmlns:a="http://schemas.openxmlformats.org/drawingml/2006/main">
              <a:ext uri="{FF2B5EF4-FFF2-40B4-BE49-F238E27FC236}">
                <a16:creationId xmlns:a16="http://schemas.microsoft.com/office/drawing/2014/main" id="{48D0FF40-6582-4403-B80B-0EAA3AA6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240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旧入口与兼容适配</a:t>
            </a:r>
          </a:p>
        </p:txBody>
      </p:sp>
      <p:sp>
        <p:nvSpPr>
          <p:cNvPr id="10" name="text-78">
            <a:extLst xmlns:a="http://schemas.openxmlformats.org/drawingml/2006/main">
              <a:ext uri="{FF2B5EF4-FFF2-40B4-BE49-F238E27FC236}">
                <a16:creationId xmlns:a16="http://schemas.microsoft.com/office/drawing/2014/main" id="{5F9ABBAF-40D7-45D5-8173-507BF471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62150"/>
            <a:ext cx="773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保持原有参数、权限、结果、状态和通知语义</a:t>
            </a:r>
          </a:p>
        </p:txBody>
      </p:sp>
      <p:sp>
        <p:nvSpPr>
          <p:cNvPr id="11" name="business-area-79">
            <a:extLst xmlns:a="http://schemas.openxmlformats.org/drawingml/2006/main">
              <a:ext uri="{FF2B5EF4-FFF2-40B4-BE49-F238E27FC236}">
                <a16:creationId xmlns:a16="http://schemas.microsoft.com/office/drawing/2014/main" id="{9357A695-3AB4-4BD0-90D5-3C071D0F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76525"/>
            <a:ext cx="112014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6"/>
            </a:solidFill>
            <a:prstDash val="solid"/>
          </a:ln>
        </p:spPr>
      </p:sp>
      <p:sp>
        <p:nvSpPr>
          <p:cNvPr id="13" name="subscription-80">
            <a:extLst xmlns:a="http://schemas.openxmlformats.org/drawingml/2006/main">
              <a:ext uri="{FF2B5EF4-FFF2-40B4-BE49-F238E27FC236}">
                <a16:creationId xmlns:a16="http://schemas.microsoft.com/office/drawing/2014/main" id="{3B24FEF9-BA2B-41CD-BD8E-99454A19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5353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46AB8"/>
            </a:solidFill>
            <a:prstDash val="solid"/>
          </a:ln>
        </p:spPr>
      </p:sp>
      <p:sp>
        <p:nvSpPr>
          <p:cNvPr id="14" name="text-81">
            <a:extLst xmlns:a="http://schemas.openxmlformats.org/drawingml/2006/main">
              <a:ext uri="{FF2B5EF4-FFF2-40B4-BE49-F238E27FC236}">
                <a16:creationId xmlns:a16="http://schemas.microsoft.com/office/drawing/2014/main" id="{59F46BA9-A4CA-49F7-9FBB-789F4E2D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订阅与角色</a:t>
            </a:r>
          </a:p>
        </p:txBody>
      </p:sp>
      <p:sp>
        <p:nvSpPr>
          <p:cNvPr id="15" name="text-82">
            <a:extLst xmlns:a="http://schemas.openxmlformats.org/drawingml/2006/main">
              <a:ext uri="{FF2B5EF4-FFF2-40B4-BE49-F238E27FC236}">
                <a16:creationId xmlns:a16="http://schemas.microsoft.com/office/drawing/2014/main" id="{94FA5ED2-A9C5-4F08-BAC9-11B6E775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身份与来源、用户偏好、有效角色</a:t>
            </a:r>
          </a:p>
        </p:txBody>
      </p:sp>
      <p:sp>
        <p:nvSpPr>
          <p:cNvPr id="16" name="topology-83">
            <a:extLst xmlns:a="http://schemas.openxmlformats.org/drawingml/2006/main">
              <a:ext uri="{FF2B5EF4-FFF2-40B4-BE49-F238E27FC236}">
                <a16:creationId xmlns:a16="http://schemas.microsoft.com/office/drawing/2014/main" id="{7B001391-ECA1-45CB-ABF0-2545197C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28925"/>
            <a:ext cx="5353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8C9F"/>
            </a:solidFill>
            <a:prstDash val="solid"/>
          </a:ln>
        </p:spPr>
      </p:sp>
      <p:sp>
        <p:nvSpPr>
          <p:cNvPr id="17" name="text-84">
            <a:extLst xmlns:a="http://schemas.openxmlformats.org/drawingml/2006/main">
              <a:ext uri="{FF2B5EF4-FFF2-40B4-BE49-F238E27FC236}">
                <a16:creationId xmlns:a16="http://schemas.microsoft.com/office/drawing/2014/main" id="{36DB0ADA-7A3D-4F62-B0F2-15C6A6AF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43225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rPr>
              <a:t>连接与映射</a:t>
            </a:r>
          </a:p>
        </p:txBody>
      </p:sp>
      <p:sp>
        <p:nvSpPr>
          <p:cNvPr id="18" name="text-85">
            <a:extLst xmlns:a="http://schemas.openxmlformats.org/drawingml/2006/main">
              <a:ext uri="{FF2B5EF4-FFF2-40B4-BE49-F238E27FC236}">
                <a16:creationId xmlns:a16="http://schemas.microsoft.com/office/drawing/2014/main" id="{554BBD4C-8A61-4641-A472-28E50142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端点、当前 Binding、逻辑路由与版本</a:t>
            </a:r>
          </a:p>
        </p:txBody>
      </p:sp>
      <p:sp>
        <p:nvSpPr>
          <p:cNvPr id="19" name="operation-86">
            <a:extLst xmlns:a="http://schemas.openxmlformats.org/drawingml/2006/main">
              <a:ext uri="{FF2B5EF4-FFF2-40B4-BE49-F238E27FC236}">
                <a16:creationId xmlns:a16="http://schemas.microsoft.com/office/drawing/2014/main" id="{672E2403-9EB2-4C8F-BBE2-89FFE06D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5353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46AB8"/>
            </a:solidFill>
            <a:prstDash val="solid"/>
          </a:ln>
        </p:spPr>
      </p:sp>
      <p:sp>
        <p:nvSpPr>
          <p:cNvPr id="20" name="text-87">
            <a:extLst xmlns:a="http://schemas.openxmlformats.org/drawingml/2006/main">
              <a:ext uri="{FF2B5EF4-FFF2-40B4-BE49-F238E27FC236}">
                <a16:creationId xmlns:a16="http://schemas.microsoft.com/office/drawing/2014/main" id="{B57FB987-E208-48E8-BCB1-0111ABAE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业务操作</a:t>
            </a:r>
          </a:p>
        </p:txBody>
      </p:sp>
      <p:sp>
        <p:nvSpPr>
          <p:cNvPr id="21" name="text-88">
            <a:extLst xmlns:a="http://schemas.openxmlformats.org/drawingml/2006/main">
              <a:ext uri="{FF2B5EF4-FFF2-40B4-BE49-F238E27FC236}">
                <a16:creationId xmlns:a16="http://schemas.microsoft.com/office/drawing/2014/main" id="{CB5571C2-6E84-4432-82E1-09DC0ED4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按用例推进步骤，核实结果并组织恢复</a:t>
            </a:r>
          </a:p>
        </p:txBody>
      </p:sp>
      <p:sp>
        <p:nvSpPr>
          <p:cNvPr id="22" name="radio-89">
            <a:extLst xmlns:a="http://schemas.openxmlformats.org/drawingml/2006/main">
              <a:ext uri="{FF2B5EF4-FFF2-40B4-BE49-F238E27FC236}">
                <a16:creationId xmlns:a16="http://schemas.microsoft.com/office/drawing/2014/main" id="{8AA9CEC8-258A-4AFF-A47C-C575F20E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33825"/>
            <a:ext cx="5353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8C9F"/>
            </a:solidFill>
            <a:prstDash val="solid"/>
          </a:ln>
        </p:spPr>
      </p:sp>
      <p:sp>
        <p:nvSpPr>
          <p:cNvPr id="23" name="text-90">
            <a:extLst xmlns:a="http://schemas.openxmlformats.org/drawingml/2006/main">
              <a:ext uri="{FF2B5EF4-FFF2-40B4-BE49-F238E27FC236}">
                <a16:creationId xmlns:a16="http://schemas.microsoft.com/office/drawing/2014/main" id="{A0ABCF20-59CE-4528-879D-678A6C32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48125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rPr>
              <a:t>资源管理</a:t>
            </a:r>
          </a:p>
        </p:txBody>
      </p:sp>
      <p:sp>
        <p:nvSpPr>
          <p:cNvPr id="24" name="text-91">
            <a:extLst xmlns:a="http://schemas.openxmlformats.org/drawingml/2006/main">
              <a:ext uri="{FF2B5EF4-FFF2-40B4-BE49-F238E27FC236}">
                <a16:creationId xmlns:a16="http://schemas.microsoft.com/office/drawing/2014/main" id="{C73C3CCC-2FEC-4979-8C1B-3B39F08A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815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按能力仲裁、预留和分配，保护活动业务</a:t>
            </a:r>
          </a:p>
        </p:txBody>
      </p:sp>
      <p:sp>
        <p:nvSpPr>
          <p:cNvPr id="25" name="runtime-92">
            <a:extLst xmlns:a="http://schemas.openxmlformats.org/drawingml/2006/main">
              <a:ext uri="{FF2B5EF4-FFF2-40B4-BE49-F238E27FC236}">
                <a16:creationId xmlns:a16="http://schemas.microsoft.com/office/drawing/2014/main" id="{D79C31C2-7AE7-424B-86EF-65B68437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112014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8C9F"/>
            </a:solidFill>
            <a:prstDash val="solid"/>
          </a:ln>
        </p:spPr>
      </p:sp>
      <p:sp>
        <p:nvSpPr>
          <p:cNvPr id="26" name="text-93">
            <a:extLst xmlns:a="http://schemas.openxmlformats.org/drawingml/2006/main">
              <a:ext uri="{FF2B5EF4-FFF2-40B4-BE49-F238E27FC236}">
                <a16:creationId xmlns:a16="http://schemas.microsoft.com/office/drawing/2014/main" id="{39264278-AB87-471B-A365-A8A68619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197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rPr>
              <a:t>卡运行支撑 UiccRuntime</a:t>
            </a:r>
          </a:p>
        </p:txBody>
      </p:sp>
      <p:sp>
        <p:nvSpPr>
          <p:cNvPr id="27" name="text-94">
            <a:extLst xmlns:a="http://schemas.openxmlformats.org/drawingml/2006/main">
              <a:ext uri="{FF2B5EF4-FFF2-40B4-BE49-F238E27FC236}">
                <a16:creationId xmlns:a16="http://schemas.microsoft.com/office/drawing/2014/main" id="{B7461D0A-2BB4-476A-9EE4-27D81702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57825"/>
            <a:ext cx="674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卡应用、安全、Records、会话与加载轮次</a:t>
            </a:r>
          </a:p>
        </p:txBody>
      </p:sp>
      <p:sp>
        <p:nvSpPr>
          <p:cNvPr id="29" name="text-95">
            <a:extLst xmlns:a="http://schemas.openxmlformats.org/drawingml/2006/main">
              <a:ext uri="{FF2B5EF4-FFF2-40B4-BE49-F238E27FC236}">
                <a16:creationId xmlns:a16="http://schemas.microsoft.com/office/drawing/2014/main" id="{CCC8970C-30D4-44BE-8C33-5E9F9673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0"/>
            <a:ext cx="11201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技术适配连接 RIL、存储与既有 eSIM 服务。SIM 短信、电话簿、STK 和运营商配置继续由相应支撑模块承接。</a:t>
            </a:r>
          </a:p>
        </p:txBody>
      </p:sp>
      <p:sp>
        <p:nvSpPr>
          <p:cNvPr id="30" name="text-96">
            <a:extLst xmlns:a="http://schemas.openxmlformats.org/drawingml/2006/main">
              <a:ext uri="{FF2B5EF4-FFF2-40B4-BE49-F238E27FC236}">
                <a16:creationId xmlns:a16="http://schemas.microsoft.com/office/drawing/2014/main" id="{F19FE4C2-CF76-4FAF-9EF8-5D22BC51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96025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职责模块内部按需分层，SIM SO 容纳这些职责并沿用原进程与 SA。</a:t>
            </a:r>
          </a:p>
        </p:txBody>
      </p:sp>
    </p:spTree>
    <p:extLst>
      <p:ext uri="{BB962C8B-B14F-4D97-AF65-F5344CB8AC3E}">
        <p14:creationId xmlns:p14="http://schemas.microsoft.com/office/powerpoint/2010/main" val="18387344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93D275-D39E-4C96-A657-35E7E81B46AB}"/>
              </a:ext>
            </a:extLst>
          </p:cNvPr>
          <p:cNvCxnSpPr>
            <a:stCxn xmlns:a="http://schemas.openxmlformats.org/drawingml/2006/main" id="32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10082213" y="4171950"/>
            <a:ext cx="4763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263"/>
            </a:solidFill>
            <a:prstDash val="solid"/>
            <a:headEnd type="none" w="sm" len="sm"/>
            <a:tailEnd type="arrow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DA8D61-CF88-4471-ABFA-61758D398738}"/>
              </a:ext>
            </a:extLst>
          </p:cNvPr>
          <p:cNvCxnSpPr>
            <a:stCxn xmlns:a="http://schemas.openxmlformats.org/drawingml/2006/main" id="31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6538913" y="4171950"/>
            <a:ext cx="14288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C34449"/>
            </a:solidFill>
            <a:prstDash val="solid"/>
            <a:headEnd type="none" w="sm" len="sm"/>
            <a:tailEnd type="arrow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C86420-117B-43A8-BEA1-994108885093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353425" y="332422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8C9F"/>
            </a:solidFill>
            <a:prstDash val="solid"/>
            <a:headEnd type="none" w="sm" len="sm"/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6D9A4-3BA3-4AAC-993D-B907891A12D4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419350" y="3362325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C34449"/>
            </a:solidFill>
            <a:prstDash val="dash"/>
            <a:headEnd type="none" w="sm" len="sm"/>
            <a:tailEnd type="arrow" w="sm" len="sm"/>
          </a:ln>
        </p:spPr>
      </p:cxnSp>
      <p:sp>
        <p:nvSpPr>
          <p:cNvPr id="37" name="rect-97">
            <a:extLst xmlns:a="http://schemas.openxmlformats.org/drawingml/2006/main">
              <a:ext uri="{FF2B5EF4-FFF2-40B4-BE49-F238E27FC236}">
                <a16:creationId xmlns:a16="http://schemas.microsoft.com/office/drawing/2014/main" id="{080C50D2-C8F4-4FBD-8D48-089CE333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98">
            <a:extLst xmlns:a="http://schemas.openxmlformats.org/drawingml/2006/main">
              <a:ext uri="{FF2B5EF4-FFF2-40B4-BE49-F238E27FC236}">
                <a16:creationId xmlns:a16="http://schemas.microsoft.com/office/drawing/2014/main" id="{5DAF0FFB-5D73-434A-9879-9FB0E0F2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多 SIM 架构重构 · 开发讨论</a:t>
            </a:r>
          </a:p>
        </p:txBody>
      </p:sp>
      <p:sp>
        <p:nvSpPr>
          <p:cNvPr id="3" name="text-99">
            <a:extLst xmlns:a="http://schemas.openxmlformats.org/drawingml/2006/main">
              <a:ext uri="{FF2B5EF4-FFF2-40B4-BE49-F238E27FC236}">
                <a16:creationId xmlns:a16="http://schemas.microsoft.com/office/drawing/2014/main" id="{98427A8D-50F4-408C-88CD-449D3A45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rPr>
              <a:t>同一场景的处理对比：写入前统一准入</a:t>
            </a:r>
          </a:p>
        </p:txBody>
      </p:sp>
      <p:sp>
        <p:nvSpPr>
          <p:cNvPr id="4" name="text-100">
            <a:extLst xmlns:a="http://schemas.openxmlformats.org/drawingml/2006/main">
              <a:ext uri="{FF2B5EF4-FFF2-40B4-BE49-F238E27FC236}">
                <a16:creationId xmlns:a16="http://schemas.microsoft.com/office/drawing/2014/main" id="{1BC47404-1C5C-4AA9-B430-43EC2624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11201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保留原请求关联，在进入当前缓存与完成集合之前检查业务有效性</a:t>
            </a:r>
          </a:p>
        </p:txBody>
      </p:sp>
      <p:sp>
        <p:nvSpPr>
          <p:cNvPr id="5" name="rect-101">
            <a:extLst xmlns:a="http://schemas.openxmlformats.org/drawingml/2006/main">
              <a:ext uri="{FF2B5EF4-FFF2-40B4-BE49-F238E27FC236}">
                <a16:creationId xmlns:a16="http://schemas.microsoft.com/office/drawing/2014/main" id="{ABE417AE-DE28-4FCA-96FA-08E56024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102">
            <a:extLst xmlns:a="http://schemas.openxmlformats.org/drawingml/2006/main">
              <a:ext uri="{FF2B5EF4-FFF2-40B4-BE49-F238E27FC236}">
                <a16:creationId xmlns:a16="http://schemas.microsoft.com/office/drawing/2014/main" id="{F865707C-5499-403F-AAA8-C8DEDD1E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开发讨论版 · 2026.10</a:t>
            </a:r>
          </a:p>
        </p:txBody>
      </p:sp>
      <p:sp>
        <p:nvSpPr>
          <p:cNvPr id="7" name="text-103">
            <a:extLst xmlns:a="http://schemas.openxmlformats.org/drawingml/2006/main">
              <a:ext uri="{FF2B5EF4-FFF2-40B4-BE49-F238E27FC236}">
                <a16:creationId xmlns:a16="http://schemas.microsoft.com/office/drawing/2014/main" id="{0C118647-A9B4-43CC-B2F1-1F9D8245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2462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8" name="text-104">
            <a:extLst xmlns:a="http://schemas.openxmlformats.org/drawingml/2006/main">
              <a:ext uri="{FF2B5EF4-FFF2-40B4-BE49-F238E27FC236}">
                <a16:creationId xmlns:a16="http://schemas.microsoft.com/office/drawing/2014/main" id="{8577BAB5-FDD6-4508-96A2-00384B21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rPr>
              <a:t>现状需要核查的风险路径</a:t>
            </a:r>
          </a:p>
        </p:txBody>
      </p:sp>
      <p:sp>
        <p:nvSpPr>
          <p:cNvPr id="9" name="old-match-105">
            <a:extLst xmlns:a="http://schemas.openxmlformats.org/drawingml/2006/main">
              <a:ext uri="{FF2B5EF4-FFF2-40B4-BE49-F238E27FC236}">
                <a16:creationId xmlns:a16="http://schemas.microsoft.com/office/drawing/2014/main" id="{D16EF564-D744-4C02-8E07-1D67CBF8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3848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34449"/>
            </a:solidFill>
            <a:prstDash val="solid"/>
          </a:ln>
        </p:spPr>
      </p:sp>
      <p:sp>
        <p:nvSpPr>
          <p:cNvPr id="10" name="text-106">
            <a:extLst xmlns:a="http://schemas.openxmlformats.org/drawingml/2006/main">
              <a:ext uri="{FF2B5EF4-FFF2-40B4-BE49-F238E27FC236}">
                <a16:creationId xmlns:a16="http://schemas.microsoft.com/office/drawing/2014/main" id="{D8A49D98-B02E-48D8-AE72-322749A0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3543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rPr>
              <a:t>a1 匹配了原请求</a:t>
            </a:r>
          </a:p>
        </p:txBody>
      </p:sp>
      <p:sp>
        <p:nvSpPr>
          <p:cNvPr id="11" name="text-107">
            <a:extLst xmlns:a="http://schemas.openxmlformats.org/drawingml/2006/main">
              <a:ext uri="{FF2B5EF4-FFF2-40B4-BE49-F238E27FC236}">
                <a16:creationId xmlns:a16="http://schemas.microsoft.com/office/drawing/2014/main" id="{D16BC492-969C-4113-A52D-B19F8D4E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3543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已有 serial 关联继续保留</a:t>
            </a:r>
          </a:p>
        </p:txBody>
      </p:sp>
      <p:sp>
        <p:nvSpPr>
          <p:cNvPr id="12" name="old-route-108">
            <a:extLst xmlns:a="http://schemas.openxmlformats.org/drawingml/2006/main">
              <a:ext uri="{FF2B5EF4-FFF2-40B4-BE49-F238E27FC236}">
                <a16:creationId xmlns:a16="http://schemas.microsoft.com/office/drawing/2014/main" id="{5DDBE2E1-401E-4381-BE94-AD3E7CEF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05225"/>
            <a:ext cx="3848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34449"/>
            </a:solidFill>
            <a:prstDash val="solid"/>
          </a:ln>
        </p:spPr>
      </p:sp>
      <p:sp>
        <p:nvSpPr>
          <p:cNvPr id="13" name="text-109">
            <a:extLst xmlns:a="http://schemas.openxmlformats.org/drawingml/2006/main">
              <a:ext uri="{FF2B5EF4-FFF2-40B4-BE49-F238E27FC236}">
                <a16:creationId xmlns:a16="http://schemas.microsoft.com/office/drawing/2014/main" id="{99BE0B00-7172-4011-82FF-8966AD8C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3543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rPr>
              <a:t>若按 slot 找当前对象</a:t>
            </a:r>
          </a:p>
        </p:txBody>
      </p:sp>
      <p:sp>
        <p:nvSpPr>
          <p:cNvPr id="14" name="text-110">
            <a:extLst xmlns:a="http://schemas.openxmlformats.org/drawingml/2006/main">
              <a:ext uri="{FF2B5EF4-FFF2-40B4-BE49-F238E27FC236}">
                <a16:creationId xmlns:a16="http://schemas.microsoft.com/office/drawing/2014/main" id="{79D58174-D1CC-430E-A011-ECBBAE3A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3543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此时定位到的可能已是 B</a:t>
            </a:r>
          </a:p>
        </p:txBody>
      </p:sp>
      <p:sp>
        <p:nvSpPr>
          <p:cNvPr id="16" name="text-111">
            <a:extLst xmlns:a="http://schemas.openxmlformats.org/drawingml/2006/main">
              <a:ext uri="{FF2B5EF4-FFF2-40B4-BE49-F238E27FC236}">
                <a16:creationId xmlns:a16="http://schemas.microsoft.com/office/drawing/2014/main" id="{1BA71DF6-57DE-437D-B1F1-8DB430AD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3848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rPr>
              <a:t>若缺少会话与轮次校验，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rPr>
              <a:t>写缓存和完成集合就存在串写窗口。</a:t>
            </a:r>
          </a:p>
        </p:txBody>
      </p:sp>
      <p:sp>
        <p:nvSpPr>
          <p:cNvPr id="17" name="rect-112">
            <a:extLst xmlns:a="http://schemas.openxmlformats.org/drawingml/2006/main">
              <a:ext uri="{FF2B5EF4-FFF2-40B4-BE49-F238E27FC236}">
                <a16:creationId xmlns:a16="http://schemas.microsoft.com/office/drawing/2014/main" id="{BD0C5F23-BFF2-4F70-A316-D7F20242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52625"/>
            <a:ext cx="11430" cy="387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13">
            <a:extLst xmlns:a="http://schemas.openxmlformats.org/drawingml/2006/main">
              <a:ext uri="{FF2B5EF4-FFF2-40B4-BE49-F238E27FC236}">
                <a16:creationId xmlns:a16="http://schemas.microsoft.com/office/drawing/2014/main" id="{F72534DC-7D49-41E0-BDBB-8BB8870B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24050"/>
            <a:ext cx="668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rPr>
              <a:t>目标：卡运行模块集中校验与提交</a:t>
            </a:r>
          </a:p>
        </p:txBody>
      </p:sp>
      <p:sp>
        <p:nvSpPr>
          <p:cNvPr id="19" name="new-input-114">
            <a:extLst xmlns:a="http://schemas.openxmlformats.org/drawingml/2006/main">
              <a:ext uri="{FF2B5EF4-FFF2-40B4-BE49-F238E27FC236}">
                <a16:creationId xmlns:a16="http://schemas.microsoft.com/office/drawing/2014/main" id="{0698B8C3-C9A0-43C5-8CDA-6452B208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9825"/>
            <a:ext cx="6686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46AB8"/>
            </a:solidFill>
            <a:prstDash val="solid"/>
          </a:ln>
        </p:spPr>
      </p:sp>
      <p:sp>
        <p:nvSpPr>
          <p:cNvPr id="20" name="text-115">
            <a:extLst xmlns:a="http://schemas.openxmlformats.org/drawingml/2006/main">
              <a:ext uri="{FF2B5EF4-FFF2-40B4-BE49-F238E27FC236}">
                <a16:creationId xmlns:a16="http://schemas.microsoft.com/office/drawing/2014/main" id="{BC90CFEE-0109-46F5-92D4-088377F5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24125"/>
            <a:ext cx="638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接收 a1，恢复发起时关联</a:t>
            </a:r>
          </a:p>
        </p:txBody>
      </p:sp>
      <p:sp>
        <p:nvSpPr>
          <p:cNvPr id="21" name="text-116">
            <a:extLst xmlns:a="http://schemas.openxmlformats.org/drawingml/2006/main">
              <a:ext uri="{FF2B5EF4-FFF2-40B4-BE49-F238E27FC236}">
                <a16:creationId xmlns:a16="http://schemas.microsoft.com/office/drawing/2014/main" id="{01A21A74-1503-4856-9F54-0CADEBAC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保留原请求、原会话、原加载轮次</a:t>
            </a:r>
          </a:p>
        </p:txBody>
      </p:sp>
      <p:sp>
        <p:nvSpPr>
          <p:cNvPr id="22" name="admission-117">
            <a:extLst xmlns:a="http://schemas.openxmlformats.org/drawingml/2006/main">
              <a:ext uri="{FF2B5EF4-FFF2-40B4-BE49-F238E27FC236}">
                <a16:creationId xmlns:a16="http://schemas.microsoft.com/office/drawing/2014/main" id="{EC24CE4B-93C1-4F56-810B-023930B6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29025"/>
            <a:ext cx="66865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8C9F"/>
            </a:solidFill>
            <a:prstDash val="solid"/>
          </a:ln>
        </p:spPr>
      </p:sp>
      <p:sp>
        <p:nvSpPr>
          <p:cNvPr id="23" name="text-118">
            <a:extLst xmlns:a="http://schemas.openxmlformats.org/drawingml/2006/main">
              <a:ext uri="{FF2B5EF4-FFF2-40B4-BE49-F238E27FC236}">
                <a16:creationId xmlns:a16="http://schemas.microsoft.com/office/drawing/2014/main" id="{5F688472-0E99-45A2-959F-D19DE970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6237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rPr>
              <a:t>准入：请求匹配，且属于当前会话和加载轮次</a:t>
            </a:r>
          </a:p>
        </p:txBody>
      </p:sp>
      <p:sp>
        <p:nvSpPr>
          <p:cNvPr id="25" name="reject-119">
            <a:extLst xmlns:a="http://schemas.openxmlformats.org/drawingml/2006/main">
              <a:ext uri="{FF2B5EF4-FFF2-40B4-BE49-F238E27FC236}">
                <a16:creationId xmlns:a16="http://schemas.microsoft.com/office/drawing/2014/main" id="{944D2ED4-5CD9-47A2-A921-F77F2B39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72000"/>
            <a:ext cx="3086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34449"/>
            </a:solidFill>
            <a:prstDash val="solid"/>
          </a:ln>
        </p:spPr>
      </p:sp>
      <p:sp>
        <p:nvSpPr>
          <p:cNvPr id="26" name="text-120">
            <a:extLst xmlns:a="http://schemas.openxmlformats.org/drawingml/2006/main">
              <a:ext uri="{FF2B5EF4-FFF2-40B4-BE49-F238E27FC236}">
                <a16:creationId xmlns:a16="http://schemas.microsoft.com/office/drawing/2014/main" id="{7F4B2571-A284-46F3-82F2-D3017F7C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86300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34449"/>
                </a:solidFill>
                <a:latin typeface="Microsoft YaHei"/>
                <a:ea typeface="Microsoft YaHei"/>
                <a:cs typeface="Microsoft YaHei"/>
              </a:rPr>
              <a:t>过期：拒绝写当前数据</a:t>
            </a:r>
          </a:p>
        </p:txBody>
      </p:sp>
      <p:sp>
        <p:nvSpPr>
          <p:cNvPr id="27" name="text-121">
            <a:extLst xmlns:a="http://schemas.openxmlformats.org/drawingml/2006/main">
              <a:ext uri="{FF2B5EF4-FFF2-40B4-BE49-F238E27FC236}">
                <a16:creationId xmlns:a16="http://schemas.microsoft.com/office/drawing/2014/main" id="{4653D784-E61D-4699-96D7-5C844006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19675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不修改 B 的缓存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不推进 B 的完成集合</a:t>
            </a:r>
          </a:p>
        </p:txBody>
      </p:sp>
      <p:sp>
        <p:nvSpPr>
          <p:cNvPr id="28" name="accept-122">
            <a:extLst xmlns:a="http://schemas.openxmlformats.org/drawingml/2006/main">
              <a:ext uri="{FF2B5EF4-FFF2-40B4-BE49-F238E27FC236}">
                <a16:creationId xmlns:a16="http://schemas.microsoft.com/office/drawing/2014/main" id="{D1FC6901-E62F-4BCD-BEFD-20A9C9EB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3219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28263"/>
            </a:solidFill>
            <a:prstDash val="solid"/>
          </a:ln>
        </p:spPr>
      </p:sp>
      <p:sp>
        <p:nvSpPr>
          <p:cNvPr id="29" name="text-123">
            <a:extLst xmlns:a="http://schemas.openxmlformats.org/drawingml/2006/main">
              <a:ext uri="{FF2B5EF4-FFF2-40B4-BE49-F238E27FC236}">
                <a16:creationId xmlns:a16="http://schemas.microsoft.com/office/drawing/2014/main" id="{2537C392-A966-4E49-B115-4540B395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8630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>
                <a:solidFill>
                  <a:srgbClr val="32826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32826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32826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32826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32826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32826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32826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32826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32826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32826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282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28263"/>
                </a:solidFill>
                <a:latin typeface="Microsoft YaHei"/>
                <a:ea typeface="Microsoft YaHei"/>
                <a:cs typeface="Microsoft YaHei"/>
              </a:rPr>
              <a:t>有效：受控提交</a:t>
            </a:r>
          </a:p>
        </p:txBody>
      </p:sp>
      <p:sp>
        <p:nvSpPr>
          <p:cNvPr id="30" name="text-124">
            <a:extLst xmlns:a="http://schemas.openxmlformats.org/drawingml/2006/main">
              <a:ext uri="{FF2B5EF4-FFF2-40B4-BE49-F238E27FC236}">
                <a16:creationId xmlns:a16="http://schemas.microsoft.com/office/drawing/2014/main" id="{69A3DB31-4BDC-4402-8D11-17687F5D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19675"/>
            <a:ext cx="2914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同一执行域内校验并更新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提交后按旧契约通知</a:t>
            </a:r>
          </a:p>
        </p:txBody>
      </p:sp>
      <p:sp>
        <p:nvSpPr>
          <p:cNvPr id="31" name="rect-125">
            <a:extLst xmlns:a="http://schemas.openxmlformats.org/drawingml/2006/main">
              <a:ext uri="{FF2B5EF4-FFF2-40B4-BE49-F238E27FC236}">
                <a16:creationId xmlns:a16="http://schemas.microsoft.com/office/drawing/2014/main" id="{39DD1BDA-8CD2-4EC2-B003-6503F304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624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rect-126">
            <a:extLst xmlns:a="http://schemas.openxmlformats.org/drawingml/2006/main">
              <a:ext uri="{FF2B5EF4-FFF2-40B4-BE49-F238E27FC236}">
                <a16:creationId xmlns:a16="http://schemas.microsoft.com/office/drawing/2014/main" id="{D8CD3C1A-1CFF-4A15-924B-EDD288ED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1624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rect-127">
            <a:extLst xmlns:a="http://schemas.openxmlformats.org/drawingml/2006/main">
              <a:ext uri="{FF2B5EF4-FFF2-40B4-BE49-F238E27FC236}">
                <a16:creationId xmlns:a16="http://schemas.microsoft.com/office/drawing/2014/main" id="{A7DD80EC-FB13-4262-83DA-3D279E10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34075"/>
            <a:ext cx="1120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128">
            <a:extLst xmlns:a="http://schemas.openxmlformats.org/drawingml/2006/main">
              <a:ext uri="{FF2B5EF4-FFF2-40B4-BE49-F238E27FC236}">
                <a16:creationId xmlns:a16="http://schemas.microsoft.com/office/drawing/2014/main" id="{4C46ADE4-54A3-42E9-86E0-DF14B548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76950"/>
            <a:ext cx="1120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换卡先关闭旧会话的写入资格；仅文件重载时，更新加载轮次。</a:t>
            </a:r>
          </a:p>
        </p:txBody>
      </p:sp>
    </p:spTree>
    <p:extLst>
      <p:ext uri="{BB962C8B-B14F-4D97-AF65-F5344CB8AC3E}">
        <p14:creationId xmlns:p14="http://schemas.microsoft.com/office/powerpoint/2010/main" val="135753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524FE-BEB2-487C-A3C2-72E0665E875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953375" y="2181225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08C9F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8EBCD-458F-4BD9-9A70-0F1C309A036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52800" y="2181225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6AB8"/>
            </a:solidFill>
            <a:prstDash val="solid"/>
            <a:headEnd type="arrow" w="sm" len="sm"/>
            <a:tailEnd type="arrow" w="sm" len="sm"/>
          </a:ln>
        </p:spPr>
      </p:cxnSp>
      <p:sp>
        <p:nvSpPr>
          <p:cNvPr id="19" name="rect-129">
            <a:extLst xmlns:a="http://schemas.openxmlformats.org/drawingml/2006/main">
              <a:ext uri="{FF2B5EF4-FFF2-40B4-BE49-F238E27FC236}">
                <a16:creationId xmlns:a16="http://schemas.microsoft.com/office/drawing/2014/main" id="{7D722AD5-B48B-4FFC-838F-DA103170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30">
            <a:extLst xmlns:a="http://schemas.openxmlformats.org/drawingml/2006/main">
              <a:ext uri="{FF2B5EF4-FFF2-40B4-BE49-F238E27FC236}">
                <a16:creationId xmlns:a16="http://schemas.microsoft.com/office/drawing/2014/main" id="{1055462F-CF27-4379-93AA-42D8D380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多 SIM 架构重构 · 开发讨论</a:t>
            </a:r>
          </a:p>
        </p:txBody>
      </p:sp>
      <p:sp>
        <p:nvSpPr>
          <p:cNvPr id="3" name="text-131">
            <a:extLst xmlns:a="http://schemas.openxmlformats.org/drawingml/2006/main">
              <a:ext uri="{FF2B5EF4-FFF2-40B4-BE49-F238E27FC236}">
                <a16:creationId xmlns:a16="http://schemas.microsoft.com/office/drawing/2014/main" id="{51544A14-8C11-403E-B38C-F5DF0083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rPr>
              <a:t>外部接口：兼容适配与行为验证</a:t>
            </a:r>
          </a:p>
        </p:txBody>
      </p:sp>
      <p:sp>
        <p:nvSpPr>
          <p:cNvPr id="4" name="text-132">
            <a:extLst xmlns:a="http://schemas.openxmlformats.org/drawingml/2006/main">
              <a:ext uri="{FF2B5EF4-FFF2-40B4-BE49-F238E27FC236}">
                <a16:creationId xmlns:a16="http://schemas.microsoft.com/office/drawing/2014/main" id="{E15F5909-53E5-4E36-9703-97450CB4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11201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旧契约覆盖签名、数据含义、权限、完成条件和通知时序</a:t>
            </a:r>
          </a:p>
        </p:txBody>
      </p:sp>
      <p:sp>
        <p:nvSpPr>
          <p:cNvPr id="5" name="rect-133">
            <a:extLst xmlns:a="http://schemas.openxmlformats.org/drawingml/2006/main">
              <a:ext uri="{FF2B5EF4-FFF2-40B4-BE49-F238E27FC236}">
                <a16:creationId xmlns:a16="http://schemas.microsoft.com/office/drawing/2014/main" id="{AAB7FF1F-EFE6-4530-B3AD-65D278D2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134">
            <a:extLst xmlns:a="http://schemas.openxmlformats.org/drawingml/2006/main">
              <a:ext uri="{FF2B5EF4-FFF2-40B4-BE49-F238E27FC236}">
                <a16:creationId xmlns:a16="http://schemas.microsoft.com/office/drawing/2014/main" id="{F002C231-B765-4DD9-9ED3-D5334357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开发讨论版 · 2026.10</a:t>
            </a:r>
          </a:p>
        </p:txBody>
      </p:sp>
      <p:sp>
        <p:nvSpPr>
          <p:cNvPr id="7" name="text-135">
            <a:extLst xmlns:a="http://schemas.openxmlformats.org/drawingml/2006/main">
              <a:ext uri="{FF2B5EF4-FFF2-40B4-BE49-F238E27FC236}">
                <a16:creationId xmlns:a16="http://schemas.microsoft.com/office/drawing/2014/main" id="{4780BEB1-E850-42C9-AFBE-C0A04652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2462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8" name="old-client-136">
            <a:extLst xmlns:a="http://schemas.openxmlformats.org/drawingml/2006/main">
              <a:ext uri="{FF2B5EF4-FFF2-40B4-BE49-F238E27FC236}">
                <a16:creationId xmlns:a16="http://schemas.microsoft.com/office/drawing/2014/main" id="{214E0BA7-7FDB-47C1-B488-46DCBB43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46AB8"/>
            </a:solidFill>
            <a:prstDash val="solid"/>
          </a:ln>
        </p:spPr>
      </p:sp>
      <p:sp>
        <p:nvSpPr>
          <p:cNvPr id="9" name="text-137">
            <a:extLst xmlns:a="http://schemas.openxmlformats.org/drawingml/2006/main">
              <a:ext uri="{FF2B5EF4-FFF2-40B4-BE49-F238E27FC236}">
                <a16:creationId xmlns:a16="http://schemas.microsoft.com/office/drawing/2014/main" id="{5F964DA6-86E7-4E42-88E6-48EC888B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原有调用方</a:t>
            </a:r>
          </a:p>
        </p:txBody>
      </p:sp>
      <p:sp>
        <p:nvSpPr>
          <p:cNvPr id="10" name="old-acl-138">
            <a:extLst xmlns:a="http://schemas.openxmlformats.org/drawingml/2006/main">
              <a:ext uri="{FF2B5EF4-FFF2-40B4-BE49-F238E27FC236}">
                <a16:creationId xmlns:a16="http://schemas.microsoft.com/office/drawing/2014/main" id="{96092BD4-CC36-4468-98C7-75B84092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46AB8"/>
            </a:solidFill>
            <a:prstDash val="solid"/>
          </a:ln>
        </p:spPr>
      </p:sp>
      <p:sp>
        <p:nvSpPr>
          <p:cNvPr id="11" name="text-139">
            <a:extLst xmlns:a="http://schemas.openxmlformats.org/drawingml/2006/main">
              <a:ext uri="{FF2B5EF4-FFF2-40B4-BE49-F238E27FC236}">
                <a16:creationId xmlns:a16="http://schemas.microsoft.com/office/drawing/2014/main" id="{A39E4052-40B9-43D0-8DB0-C7E200BE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57400"/>
            <a:ext cx="3371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旧接口与兼容适配</a:t>
            </a:r>
          </a:p>
        </p:txBody>
      </p:sp>
      <p:sp>
        <p:nvSpPr>
          <p:cNvPr id="12" name="new-internals-140">
            <a:extLst xmlns:a="http://schemas.openxmlformats.org/drawingml/2006/main">
              <a:ext uri="{FF2B5EF4-FFF2-40B4-BE49-F238E27FC236}">
                <a16:creationId xmlns:a16="http://schemas.microsoft.com/office/drawing/2014/main" id="{C03B5371-2D6A-4812-BE7F-493485EB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5737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8C9F"/>
            </a:solidFill>
            <a:prstDash val="solid"/>
          </a:ln>
        </p:spPr>
      </p:sp>
      <p:sp>
        <p:nvSpPr>
          <p:cNvPr id="13" name="text-141">
            <a:extLst xmlns:a="http://schemas.openxmlformats.org/drawingml/2006/main">
              <a:ext uri="{FF2B5EF4-FFF2-40B4-BE49-F238E27FC236}">
                <a16:creationId xmlns:a16="http://schemas.microsoft.com/office/drawing/2014/main" id="{6BBC58FF-40EF-4E2A-9E37-2283E596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574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rPr>
              <a:t>新内部模型与用例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82B17-9ADB-44C5-A372-22424561567B}"/>
              </a:ext>
            </a:extLst>
          </p:cNvPr>
          <p:cNvGraphicFramePr/>
          <p:nvPr/>
        </p:nvGraphicFramePr>
        <p:xfrm>
          <a:off xmlns:a="http://schemas.openxmlformats.org/drawingml/2006/main" x="495300" y="2847975"/>
          <a:ext xmlns:a="http://schemas.openxmlformats.org/drawingml/2006/main" cx="11201400" cy="29241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8486775"/>
              </a:tblGrid>
              <a:tr h="409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保护什么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T w="6191">
                      <a:solidFill>
                        <a:srgbClr val="CDD8E6"/>
                      </a:solidFill>
                      <a:prstDash val="solid"/>
                    </a:lnT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08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怎样检查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T w="6191">
                      <a:solidFill>
                        <a:srgbClr val="CDD8E6"/>
                      </a:solidFill>
                      <a:prstDash val="solid"/>
                    </a:lnT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08142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入口与结果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 SA / IPC、方法、参数、权限、错误码及 slot / simId 语义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异步完成与通知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同场景比较回调次数、顺序、允许时限，以及查询可见性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数据与设备副作用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单独测试 DataShare 直接消费者。设备命令只由活动路径发送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启动、停止与跨 SO 边界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检查对象身份、在途回调、销毁、ABI，以及存储兼容和回退条件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7" name="rect-142">
            <a:extLst xmlns:a="http://schemas.openxmlformats.org/drawingml/2006/main">
              <a:ext uri="{FF2B5EF4-FFF2-40B4-BE49-F238E27FC236}">
                <a16:creationId xmlns:a16="http://schemas.microsoft.com/office/drawing/2014/main" id="{A0A76BA7-D33A-4EE9-A8C0-9814E059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29325"/>
            <a:ext cx="1120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43">
            <a:extLst xmlns:a="http://schemas.openxmlformats.org/drawingml/2006/main">
              <a:ext uri="{FF2B5EF4-FFF2-40B4-BE49-F238E27FC236}">
                <a16:creationId xmlns:a16="http://schemas.microsoft.com/office/drawing/2014/main" id="{B5D3D544-FA1A-4E45-A62D-322F5518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120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以冻结契约和独立预期判定，结合新旧实现差分。已知缺陷与批准修复单列。</a:t>
            </a:r>
          </a:p>
        </p:txBody>
      </p:sp>
    </p:spTree>
    <p:extLst>
      <p:ext uri="{BB962C8B-B14F-4D97-AF65-F5344CB8AC3E}">
        <p14:creationId xmlns:p14="http://schemas.microsoft.com/office/powerpoint/2010/main" val="9355961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-144">
            <a:extLst xmlns:a="http://schemas.openxmlformats.org/drawingml/2006/main">
              <a:ext uri="{FF2B5EF4-FFF2-40B4-BE49-F238E27FC236}">
                <a16:creationId xmlns:a16="http://schemas.microsoft.com/office/drawing/2014/main" id="{2089188B-0781-4BAD-B7F9-3FE54727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45">
            <a:extLst xmlns:a="http://schemas.openxmlformats.org/drawingml/2006/main">
              <a:ext uri="{FF2B5EF4-FFF2-40B4-BE49-F238E27FC236}">
                <a16:creationId xmlns:a16="http://schemas.microsoft.com/office/drawing/2014/main" id="{702E1F4F-A4F7-40A7-AC62-1053B900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多 SIM 架构重构 · 开发讨论</a:t>
            </a:r>
          </a:p>
        </p:txBody>
      </p:sp>
      <p:sp>
        <p:nvSpPr>
          <p:cNvPr id="3" name="text-146">
            <a:extLst xmlns:a="http://schemas.openxmlformats.org/drawingml/2006/main">
              <a:ext uri="{FF2B5EF4-FFF2-40B4-BE49-F238E27FC236}">
                <a16:creationId xmlns:a16="http://schemas.microsoft.com/office/drawing/2014/main" id="{58D335C8-B6E8-4ECE-A604-AF285B23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rPr>
              <a:t>本次讨论要确定的规则与首个验证切片</a:t>
            </a:r>
          </a:p>
        </p:txBody>
      </p:sp>
      <p:sp>
        <p:nvSpPr>
          <p:cNvPr id="4" name="text-147">
            <a:extLst xmlns:a="http://schemas.openxmlformats.org/drawingml/2006/main">
              <a:ext uri="{FF2B5EF4-FFF2-40B4-BE49-F238E27FC236}">
                <a16:creationId xmlns:a16="http://schemas.microsoft.com/office/drawing/2014/main" id="{43C2049D-AB79-469A-8BAB-1B015435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11201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结合真实代码和设备约束，把建议落实为明确接口与验收场景</a:t>
            </a:r>
          </a:p>
        </p:txBody>
      </p:sp>
      <p:sp>
        <p:nvSpPr>
          <p:cNvPr id="5" name="rect-148">
            <a:extLst xmlns:a="http://schemas.openxmlformats.org/drawingml/2006/main">
              <a:ext uri="{FF2B5EF4-FFF2-40B4-BE49-F238E27FC236}">
                <a16:creationId xmlns:a16="http://schemas.microsoft.com/office/drawing/2014/main" id="{1B444E81-AA9F-4DF8-8032-EAFD7811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149">
            <a:extLst xmlns:a="http://schemas.openxmlformats.org/drawingml/2006/main">
              <a:ext uri="{FF2B5EF4-FFF2-40B4-BE49-F238E27FC236}">
                <a16:creationId xmlns:a16="http://schemas.microsoft.com/office/drawing/2014/main" id="{97E90714-4243-4199-9847-EFDC7C24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开发讨论版 · 2026.10</a:t>
            </a:r>
          </a:p>
        </p:txBody>
      </p:sp>
      <p:sp>
        <p:nvSpPr>
          <p:cNvPr id="7" name="text-150">
            <a:extLst xmlns:a="http://schemas.openxmlformats.org/drawingml/2006/main">
              <a:ext uri="{FF2B5EF4-FFF2-40B4-BE49-F238E27FC236}">
                <a16:creationId xmlns:a16="http://schemas.microsoft.com/office/drawing/2014/main" id="{0080F20C-D474-47B6-8AA3-CAD0A8CD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24625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57A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40629-852F-4198-A90C-0CE4D7B977E7}"/>
              </a:ext>
            </a:extLst>
          </p:cNvPr>
          <p:cNvGraphicFramePr/>
          <p:nvPr/>
        </p:nvGraphicFramePr>
        <p:xfrm>
          <a:off xmlns:a="http://schemas.openxmlformats.org/drawingml/2006/main" x="495300" y="1838325"/>
          <a:ext xmlns:a="http://schemas.openxmlformats.org/drawingml/2006/main" cx="11201400" cy="30575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47950"/>
                <a:gridCol w="4095750"/>
                <a:gridCol w="4457700"/>
              </a:tblGrid>
              <a:tr h="4286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需要确定的事项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T w="6191">
                      <a:solidFill>
                        <a:srgbClr val="CDD8E6"/>
                      </a:solidFill>
                      <a:prstDash val="solid"/>
                    </a:lnT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08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建议起点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T w="6191">
                      <a:solidFill>
                        <a:srgbClr val="CDD8E6"/>
                      </a:solidFill>
                      <a:prstDash val="solid"/>
                    </a:lnT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08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请开发核对的依据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T w="6191">
                      <a:solidFill>
                        <a:srgbClr val="CDD8E6"/>
                      </a:solidFill>
                      <a:prstDash val="solid"/>
                    </a:lnT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081426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会话与失效范围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换卡使旧会话失效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仅文件重载则更新加载轮次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换卡、Reset、Port 变化的实际影响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共享设备是否同时影响多个端点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文件完成与旧状态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必要数据决定内部加载完成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 LOADED 按原约定派生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必要文件、可选失败与降级规则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状态查询及通知次数、顺序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6A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首个改造切片</a:t>
                      </a:r>
                    </a:p>
                  </a:txBody>
                  <a:tcPr marL="142875" marR="114300" marT="95250" marB="76200" anchor="ctr">
                    <a:lnL w="6191">
                      <a:solidFill>
                        <a:srgbClr val="CDD8E6"/>
                      </a:solidFill>
                      <a:prstDash val="solid"/>
                    </a:lnL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Records 结果准入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在原写入点前保护会话与轮次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请求登记、缓存和完成集合的入口</a:t>
                      </a:r>
                    </a:p>
                    <a:p>
                      <a:r>
                        <a:rPr sz="1575" b="0">
                          <a:solidFill>
                            <a:srgbClr val="1726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线程模型、现有过滤与可注入事件</a:t>
                      </a:r>
                    </a:p>
                  </a:txBody>
                  <a:tcPr marL="142875" marR="114300" marT="95250" marB="76200" anchor="ctr">
                    <a:lnR w="6191">
                      <a:solidFill>
                        <a:srgbClr val="CDD8E6"/>
                      </a:solidFill>
                      <a:prstDash val="solid"/>
                    </a:lnR>
                    <a:lnB w="6191">
                      <a:solidFill>
                        <a:srgbClr val="CDD8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151">
            <a:extLst xmlns:a="http://schemas.openxmlformats.org/drawingml/2006/main">
              <a:ext uri="{FF2B5EF4-FFF2-40B4-BE49-F238E27FC236}">
                <a16:creationId xmlns:a16="http://schemas.microsoft.com/office/drawing/2014/main" id="{A18FB4F8-772E-4C8C-8957-54E39209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48275"/>
            <a:ext cx="1120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1426"/>
                </a:solidFill>
                <a:latin typeface="Microsoft YaHei"/>
                <a:ea typeface="Microsoft YaHei"/>
                <a:cs typeface="Microsoft YaHei"/>
              </a:rPr>
              <a:t>首个切片的验收场景</a:t>
            </a:r>
          </a:p>
        </p:txBody>
      </p:sp>
      <p:sp>
        <p:nvSpPr>
          <p:cNvPr id="10" name="text-152">
            <a:extLst xmlns:a="http://schemas.openxmlformats.org/drawingml/2006/main">
              <a:ext uri="{FF2B5EF4-FFF2-40B4-BE49-F238E27FC236}">
                <a16:creationId xmlns:a16="http://schemas.microsoft.com/office/drawing/2014/main" id="{321BEDAA-E3AD-4242-BFAE-6EF69E36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-153">
            <a:extLst xmlns:a="http://schemas.openxmlformats.org/drawingml/2006/main">
              <a:ext uri="{FF2B5EF4-FFF2-40B4-BE49-F238E27FC236}">
                <a16:creationId xmlns:a16="http://schemas.microsoft.com/office/drawing/2014/main" id="{BCB74FE6-3C8A-491B-B4DC-84BFB4D6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同槽换卡后旧响应迟到</a:t>
            </a:r>
          </a:p>
        </p:txBody>
      </p:sp>
      <p:sp>
        <p:nvSpPr>
          <p:cNvPr id="12" name="text-154">
            <a:extLst xmlns:a="http://schemas.openxmlformats.org/drawingml/2006/main">
              <a:ext uri="{FF2B5EF4-FFF2-40B4-BE49-F238E27FC236}">
                <a16:creationId xmlns:a16="http://schemas.microsoft.com/office/drawing/2014/main" id="{9488870D-B7AD-4C08-B678-674EF31F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95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155">
            <a:extLst xmlns:a="http://schemas.openxmlformats.org/drawingml/2006/main">
              <a:ext uri="{FF2B5EF4-FFF2-40B4-BE49-F238E27FC236}">
                <a16:creationId xmlns:a16="http://schemas.microsoft.com/office/drawing/2014/main" id="{3A8C3D58-050D-49E4-B588-2705E432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6959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同一卡重载时响应交叉</a:t>
            </a:r>
          </a:p>
        </p:txBody>
      </p:sp>
      <p:sp>
        <p:nvSpPr>
          <p:cNvPr id="14" name="text-156">
            <a:extLst xmlns:a="http://schemas.openxmlformats.org/drawingml/2006/main">
              <a:ext uri="{FF2B5EF4-FFF2-40B4-BE49-F238E27FC236}">
                <a16:creationId xmlns:a16="http://schemas.microsoft.com/office/drawing/2014/main" id="{13C0E677-D6DA-4A9B-B5CC-FED0D56E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95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157">
            <a:extLst xmlns:a="http://schemas.openxmlformats.org/drawingml/2006/main">
              <a:ext uri="{FF2B5EF4-FFF2-40B4-BE49-F238E27FC236}">
                <a16:creationId xmlns:a16="http://schemas.microsoft.com/office/drawing/2014/main" id="{3559C8D5-9DC7-4014-B7B7-240D3F62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959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重复响应只计一次</a:t>
            </a:r>
          </a:p>
        </p:txBody>
      </p:sp>
      <p:sp>
        <p:nvSpPr>
          <p:cNvPr id="16" name="text-158">
            <a:extLst xmlns:a="http://schemas.openxmlformats.org/drawingml/2006/main">
              <a:ext uri="{FF2B5EF4-FFF2-40B4-BE49-F238E27FC236}">
                <a16:creationId xmlns:a16="http://schemas.microsoft.com/office/drawing/2014/main" id="{C709B814-1547-44B6-B030-0F69CF03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95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8C9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-159">
            <a:extLst xmlns:a="http://schemas.openxmlformats.org/drawingml/2006/main">
              <a:ext uri="{FF2B5EF4-FFF2-40B4-BE49-F238E27FC236}">
                <a16:creationId xmlns:a16="http://schemas.microsoft.com/office/drawing/2014/main" id="{59BC07B2-C82F-4523-9E6C-950A5C41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6959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63A"/>
                </a:solidFill>
                <a:latin typeface="Microsoft YaHei"/>
                <a:ea typeface="Microsoft YaHei"/>
                <a:cs typeface="Microsoft YaHei"/>
              </a:rPr>
              <a:t>正常加载保持原契约</a:t>
            </a:r>
          </a:p>
        </p:txBody>
      </p:sp>
      <p:sp>
        <p:nvSpPr>
          <p:cNvPr id="18" name="text-160">
            <a:extLst xmlns:a="http://schemas.openxmlformats.org/drawingml/2006/main">
              <a:ext uri="{FF2B5EF4-FFF2-40B4-BE49-F238E27FC236}">
                <a16:creationId xmlns:a16="http://schemas.microsoft.com/office/drawing/2014/main" id="{1BE7D341-9802-4515-A8D7-6F406B70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05550"/>
            <a:ext cx="11201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6AB8"/>
                </a:solidFill>
                <a:latin typeface="Microsoft YaHei"/>
                <a:ea typeface="Microsoft YaHei"/>
                <a:cs typeface="Microsoft YaHei"/>
              </a:rPr>
              <a:t>讨论结论回写主设计：采用规则、代码入口、验证用例和责任人。</a:t>
            </a:r>
          </a:p>
        </p:txBody>
      </p:sp>
    </p:spTree>
    <p:extLst>
      <p:ext uri="{BB962C8B-B14F-4D97-AF65-F5344CB8AC3E}">
        <p14:creationId xmlns:p14="http://schemas.microsoft.com/office/powerpoint/2010/main" val="1973906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2026-10-19T11:40:29.7690000Z</dcterms:created>
  <dcterms:modified xsi:type="dcterms:W3CDTF">2026-10-19T11:40:29.7690000Z</dcterms:modified>
</coreProperties>
</file>